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Welcome the audience and set the tone — premium, calm, confident.
- Introduce SYNQUE as the enterprise social media command center.
- Frame the deck: problem, solution, features, security, pricing, CTA.
- Pause on the wordmark — let it land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the pain — teams juggle too many tools, accounts are at risk, insights are missing.
- Three pain points: scattered platforms, no safety net, blind spots.
- Connect emotionally before introducing the solution on the next slide.
- Acknowledge that the audience has felt each of these pains personally.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Introduce the three pillars — unified publishing, AI content, and account safety.
- Each pillar directly answers one pain point from the previous slide.
- Stress that the AI doesn't replace humans — it amplifies them.
- Set up the next slide: the breadth of features that build on these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Highlight the breadth of features — 24 modules covering every social media need.
- Don't read each card; group them: compose, schedule, engage, protect, analyze.
- Mention this is a curated subset — 8 of 24 modules shown.
- Tee up the next slide on multi-platform publishing.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Emphasize that SYNQUE supports all 7 major platforms and you can cross-post to all simultaneously.
- Call out the wide variance in character limits — from 280 on X to 63,206 on Facebook.
- The composer adapts content automatically; users never have to manually trim.
- Transition into the cross-posting flow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killer feature — one post becomes 7 AI-optimized variants.
- Same draft source; AI tailors tone, length, and hashtags per platform.
- Brand voice stays locked; only expression changes.
- Saves hours of manual reformatting per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the pricing tiers — Starter for solo creators.
- Growth is the most popular plan — best for teams publishing daily.
- Enterprise offers custom domain mail server, SSO, dedicated success manager.
- All plans support cross-posting to all 7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Emphasize the enterprise-grade isolation — each client gets their own database.
- Main DB holds customer registry, auth, and audit log only.
- Tenant DBs hold all post content, media, comments, and analytics.
- Built on Neon PostgreSQL for instant provisioning and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Show how the same brief becomes 3 completely different captions.
- Instagram: emoji-rich, swipe prompt, hashtag trio.
- LinkedIn: long-form, professional narrative, no hashtags.
- X: ultra-brief, punchy rhythm, single hashtag.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Emphasize that SYNQUE actively prevents account suspensions.
- Proactive, not reactive — guards run before every publish.
- Cadence, hashtag, cooldown, and risk pattern checks.
- Built into the workflow, not a separate add-on.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the security layers — encryption, auth, rate limiting, audit, isolation.
- Highlight AES-256 at rest and bcrypt + JWT for credentials.
- Mention biometric and 2FA options for enterprise clients.
- Stress per-tenant isolation as the data-protection guarantee.
- Close on SOC2-readiness as proof of audit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Explain the role hierarchy and the approval workflow.
- Drafts go through review before publishing — managers approve or reject.
- Five roles cover everything from Owner down to read-only Viewer.
- Every action is logged for full accountability.
- Safety net: nothing publishes without the right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Show analytics — followers, engagement, platform distribution.
- Followers up 4.2% week-over-week to 88.7K.
- Engagement up 12% MoM to 48.2K total interactions.
- Custom report builder exports PDFs and weekly digests.
- Share insights with stakeholders in one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Present three tiers — Starter, Growth, Enterprise.
- Encourage starting with the 15-day free trial — no card required.
- Highlight Growth as the most popular choice for daily-publishing teams.
- Enterprise supports SSO, SAML, and a 99.9% SLA.
- All plans include AI composer, protection, and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Close with a strong call to action.
- Invite the audience to start their 15-day free trial today.
- No credit card required to explore the platform.
- Direct them to synque.vercel.app for more details.
- Thank the audience and offer to answer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450056"/>
            <a:ext cx="6429375" cy="3857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450056"/>
            <a:ext cx="6429375" cy="3857625"/>
          </a:xfrm>
          <a:prstGeom prst="rect">
            <a:avLst/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1"/>
          <p:cNvSpPr/>
          <p:nvPr/>
        </p:nvSpPr>
        <p:spPr>
          <a:xfrm>
            <a:off x="200025" y="203597"/>
            <a:ext cx="128588" cy="0"/>
          </a:xfrm>
          <a:prstGeom prst="line">
            <a:avLst/>
          </a:prstGeom>
          <a:noFill/>
          <a:ln w="7144">
            <a:solidFill>
              <a:srgbClr val="F4F4F5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03597" y="200025"/>
            <a:ext cx="0" cy="128588"/>
          </a:xfrm>
          <a:prstGeom prst="line">
            <a:avLst/>
          </a:prstGeom>
          <a:noFill/>
          <a:ln w="7144">
            <a:solidFill>
              <a:srgbClr val="F4F4F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815388" y="203597"/>
            <a:ext cx="128588" cy="0"/>
          </a:xfrm>
          <a:prstGeom prst="line">
            <a:avLst/>
          </a:prstGeom>
          <a:noFill/>
          <a:ln w="7144">
            <a:solidFill>
              <a:srgbClr val="F4F4F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40403" y="200025"/>
            <a:ext cx="0" cy="128588"/>
          </a:xfrm>
          <a:prstGeom prst="line">
            <a:avLst/>
          </a:prstGeom>
          <a:noFill/>
          <a:ln w="7144">
            <a:solidFill>
              <a:srgbClr val="F4F4F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00025" y="4939903"/>
            <a:ext cx="128588" cy="0"/>
          </a:xfrm>
          <a:prstGeom prst="line">
            <a:avLst/>
          </a:prstGeom>
          <a:noFill/>
          <a:ln w="7144">
            <a:solidFill>
              <a:srgbClr val="F4F4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03597" y="4814888"/>
            <a:ext cx="0" cy="128588"/>
          </a:xfrm>
          <a:prstGeom prst="line">
            <a:avLst/>
          </a:prstGeom>
          <a:noFill/>
          <a:ln w="7144">
            <a:solidFill>
              <a:srgbClr val="F4F4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940403" y="4814888"/>
            <a:ext cx="0" cy="128588"/>
          </a:xfrm>
          <a:prstGeom prst="line">
            <a:avLst/>
          </a:prstGeom>
          <a:noFill/>
          <a:ln w="7144">
            <a:solidFill>
              <a:srgbClr val="F4F4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815388" y="4939903"/>
            <a:ext cx="128588" cy="0"/>
          </a:xfrm>
          <a:prstGeom prst="line">
            <a:avLst/>
          </a:prstGeom>
          <a:noFill/>
          <a:ln w="7144">
            <a:solidFill>
              <a:srgbClr val="F4F4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3179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426441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15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793577" y="1198064"/>
            <a:ext cx="1556735" cy="261347"/>
          </a:xfrm>
          <a:prstGeom prst="roundRect">
            <a:avLst>
              <a:gd name="adj" fmla="val 3640935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073612" y="1268016"/>
            <a:ext cx="113954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OVERVIEW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930737" y="127873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8" name="Text 14"/>
          <p:cNvSpPr/>
          <p:nvPr/>
        </p:nvSpPr>
        <p:spPr>
          <a:xfrm>
            <a:off x="274320" y="1789509"/>
            <a:ext cx="8595360" cy="1110996"/>
          </a:xfrm>
          <a:prstGeom prst="rect">
            <a:avLst/>
          </a:prstGeom>
          <a:noFill/>
          <a:ln/>
          <a:effectLst>
            <a:outerShdw sx="100000" sy="100000" kx="0" ky="0" algn="bl" rotWithShape="0" blurRad="571500" dist="50800" dir="16200000">
              <a:srgbClr val="D4AF37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8100"/>
              </a:lnSpc>
              <a:buNone/>
            </a:pPr>
            <a:r>
              <a:rPr lang="en-US" sz="8100" b="1" spc="162" kern="0" dirty="0">
                <a:solidFill>
                  <a:srgbClr val="F5D06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SYNQUE</a:t>
            </a:r>
            <a:endParaRPr lang="en-US" sz="8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8" y="3046809"/>
            <a:ext cx="428625" cy="71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083078" y="3282553"/>
            <a:ext cx="29777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spc="72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Orchestrate Your Social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692747" y="3739753"/>
            <a:ext cx="3758394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4F4F5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Enterprise Command Center for Modern Social Teams</a:t>
            </a:r>
            <a:endParaRPr lang="en-US" sz="101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6B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266" dirty="0"/>
          </a:p>
        </p:txBody>
      </p:sp>
      <p:sp>
        <p:nvSpPr>
          <p:cNvPr id="3" name="Text 1"/>
          <p:cNvSpPr/>
          <p:nvPr/>
        </p:nvSpPr>
        <p:spPr>
          <a:xfrm>
            <a:off x="642938" y="462558"/>
            <a:ext cx="34679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PROBLEM ·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1513"/>
            <a:ext cx="3836378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Social media is broken.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17216"/>
            <a:ext cx="3653693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4F5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Managing 7 platforms shouldn't feel like herding cats.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7605772" y="1061551"/>
            <a:ext cx="1103888" cy="261347"/>
          </a:xfrm>
          <a:prstGeom prst="roundRect">
            <a:avLst>
              <a:gd name="adj" fmla="val 3640935"/>
            </a:avLst>
          </a:prstGeom>
          <a:solidFill>
            <a:srgbClr val="FF3B3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80086" y="1131503"/>
            <a:ext cx="81243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FF6B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42932" y="114221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6B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460772" y="1599419"/>
            <a:ext cx="2621756" cy="1531441"/>
          </a:xfrm>
          <a:prstGeom prst="roundRect">
            <a:avLst>
              <a:gd name="adj" fmla="val 1119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3B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3653" y="1806587"/>
            <a:ext cx="364331" cy="364331"/>
          </a:xfrm>
          <a:prstGeom prst="roundRect">
            <a:avLst>
              <a:gd name="adj" fmla="val 36601"/>
            </a:avLst>
          </a:prstGeom>
          <a:solidFill>
            <a:srgbClr val="FF3B30">
              <a:alpha val="10000"/>
            </a:srgbClr>
          </a:solidFill>
          <a:ln w="7144">
            <a:solidFill>
              <a:srgbClr val="FF3B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0801" y="184373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6B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2764101" y="1929817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111" kern="0" dirty="0">
                <a:solidFill>
                  <a:srgbClr val="FF3B30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650081" y="2317366"/>
            <a:ext cx="224313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Scattered Platforms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50081" y="2617403"/>
            <a:ext cx="224313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platforms, 7 logins, 7 dashboards. Your team wastes hours switching context.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61122" y="1599419"/>
            <a:ext cx="2621756" cy="1531441"/>
          </a:xfrm>
          <a:prstGeom prst="roundRect">
            <a:avLst>
              <a:gd name="adj" fmla="val 1119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3B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54003" y="1806587"/>
            <a:ext cx="364331" cy="364331"/>
          </a:xfrm>
          <a:prstGeom prst="roundRect">
            <a:avLst>
              <a:gd name="adj" fmla="val 36601"/>
            </a:avLst>
          </a:prstGeom>
          <a:solidFill>
            <a:srgbClr val="FF3B30">
              <a:alpha val="10000"/>
            </a:srgbClr>
          </a:solidFill>
          <a:ln w="7144">
            <a:solidFill>
              <a:srgbClr val="FF3B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91151" y="184373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6B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5564451" y="1929817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111" kern="0" dirty="0">
                <a:solidFill>
                  <a:srgbClr val="FF3B30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3450431" y="2317366"/>
            <a:ext cx="224313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Safety Net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450431" y="2617403"/>
            <a:ext cx="224313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Accounts get suspended overnight. No warnings, no protection, no recourse.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61472" y="1599419"/>
            <a:ext cx="2621756" cy="1531441"/>
          </a:xfrm>
          <a:prstGeom prst="roundRect">
            <a:avLst>
              <a:gd name="adj" fmla="val 1119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3B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54353" y="1806587"/>
            <a:ext cx="364331" cy="364331"/>
          </a:xfrm>
          <a:prstGeom prst="roundRect">
            <a:avLst>
              <a:gd name="adj" fmla="val 36601"/>
            </a:avLst>
          </a:prstGeom>
          <a:solidFill>
            <a:srgbClr val="FF3B30">
              <a:alpha val="10000"/>
            </a:srgbClr>
          </a:solidFill>
          <a:ln w="7144">
            <a:solidFill>
              <a:srgbClr val="FF3B3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91501" y="184373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6B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364801" y="1929817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111" kern="0" dirty="0">
                <a:solidFill>
                  <a:srgbClr val="FF3B30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6250781" y="2317366"/>
            <a:ext cx="224313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Blind Spots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250781" y="2617403"/>
            <a:ext cx="224313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can't see what competitors are doing. You can't measure what works.</a:t>
            </a:r>
            <a:endParaRPr lang="en-US" sz="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23754"/>
            <a:ext cx="6051203" cy="71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622703" y="3363032"/>
            <a:ext cx="2229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54" kern="0" dirty="0">
                <a:solidFill>
                  <a:srgbClr val="F4F4F5">
                    <a:alpha val="4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fractures in the modern social workflow.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0"/>
            <a:ext cx="5715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0"/>
            <a:ext cx="57150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572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7" name="Text 4"/>
          <p:cNvSpPr/>
          <p:nvPr/>
        </p:nvSpPr>
        <p:spPr>
          <a:xfrm>
            <a:off x="642938" y="462558"/>
            <a:ext cx="80438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SOLUTION · 02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671513"/>
            <a:ext cx="863600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flow. Every platform. Zero chaos.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457200" y="1117216"/>
            <a:ext cx="557212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4F5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 brings your entire social media workflow into one calm, powerful interface.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460772" y="1542269"/>
            <a:ext cx="2621756" cy="1989981"/>
          </a:xfrm>
          <a:prstGeom prst="roundRect">
            <a:avLst>
              <a:gd name="adj" fmla="val 861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285750" dist="50800" dir="16200000">
              <a:srgbClr val="D4AF37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3653" y="1763725"/>
            <a:ext cx="378619" cy="378619"/>
          </a:xfrm>
          <a:prstGeom prst="roundRect">
            <a:avLst>
              <a:gd name="adj" fmla="val 35220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71450" dist="50800" dir="16200000">
              <a:srgbClr val="D4AF37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7944" y="180801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3" name="Text 10"/>
          <p:cNvSpPr/>
          <p:nvPr/>
        </p:nvSpPr>
        <p:spPr>
          <a:xfrm>
            <a:off x="2394496" y="1760153"/>
            <a:ext cx="498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24" kern="0" dirty="0">
                <a:solidFill>
                  <a:srgbClr val="D4AF37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01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50081" y="2288791"/>
            <a:ext cx="224313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Publishing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650081" y="2588828"/>
            <a:ext cx="2243138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4F4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Compose once, publish to 7 platforms simultaneously. AI optimizes each caption per platform.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00100" y="3210781"/>
            <a:ext cx="1675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D4AF37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COMPOSER · SEVEN OUTLETS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50081" y="320899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14" dirty="0"/>
          </a:p>
        </p:txBody>
      </p:sp>
      <p:sp>
        <p:nvSpPr>
          <p:cNvPr id="18" name="Text 15"/>
          <p:cNvSpPr/>
          <p:nvPr/>
        </p:nvSpPr>
        <p:spPr>
          <a:xfrm>
            <a:off x="3261122" y="1542269"/>
            <a:ext cx="2621756" cy="1989981"/>
          </a:xfrm>
          <a:prstGeom prst="roundRect">
            <a:avLst>
              <a:gd name="adj" fmla="val 861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285750" dist="50800" dir="16200000">
              <a:srgbClr val="D4AF37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454003" y="1763725"/>
            <a:ext cx="378619" cy="378619"/>
          </a:xfrm>
          <a:prstGeom prst="roundRect">
            <a:avLst>
              <a:gd name="adj" fmla="val 35220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71450" dist="50800" dir="16200000">
              <a:srgbClr val="D4AF37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498294" y="180801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1" name="Text 18"/>
          <p:cNvSpPr/>
          <p:nvPr/>
        </p:nvSpPr>
        <p:spPr>
          <a:xfrm>
            <a:off x="5194846" y="1760153"/>
            <a:ext cx="498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24" kern="0" dirty="0">
                <a:solidFill>
                  <a:srgbClr val="D4AF37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02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450431" y="2288791"/>
            <a:ext cx="224313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Content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3450431" y="2588828"/>
            <a:ext cx="224313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4F4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platform-specific captions, hashtags, and content variations with a single click.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600450" y="3055851"/>
            <a:ext cx="1764810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D4AF37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BRIEF · SEVEN VARIANTS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450431" y="305406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14" dirty="0"/>
          </a:p>
        </p:txBody>
      </p:sp>
      <p:sp>
        <p:nvSpPr>
          <p:cNvPr id="26" name="Text 23"/>
          <p:cNvSpPr/>
          <p:nvPr/>
        </p:nvSpPr>
        <p:spPr>
          <a:xfrm>
            <a:off x="6061472" y="1542269"/>
            <a:ext cx="2621756" cy="1989981"/>
          </a:xfrm>
          <a:prstGeom prst="roundRect">
            <a:avLst>
              <a:gd name="adj" fmla="val 861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285750" dist="50800" dir="16200000">
              <a:srgbClr val="D4AF37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254353" y="1763725"/>
            <a:ext cx="378619" cy="378619"/>
          </a:xfrm>
          <a:prstGeom prst="roundRect">
            <a:avLst>
              <a:gd name="adj" fmla="val 35220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71450" dist="50800" dir="16200000">
              <a:srgbClr val="D4AF37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298644" y="180801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29" name="Text 26"/>
          <p:cNvSpPr/>
          <p:nvPr/>
        </p:nvSpPr>
        <p:spPr>
          <a:xfrm>
            <a:off x="7995196" y="1760153"/>
            <a:ext cx="498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24" kern="0" dirty="0">
                <a:solidFill>
                  <a:srgbClr val="D4AF37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03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250781" y="2288791"/>
            <a:ext cx="224313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Built-in Protection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6250781" y="2588828"/>
            <a:ext cx="2243138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4F4F5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Anti-suspension guards, banned-hashtag blocking, and smart cooldowns keep your accounts safe.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400800" y="3210781"/>
            <a:ext cx="165849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D4AF37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 · NOT REACTIVE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250781" y="320899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14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25143"/>
            <a:ext cx="3163677" cy="714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735177" y="3764421"/>
            <a:ext cx="18075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54" kern="0" dirty="0">
                <a:solidFill>
                  <a:srgbClr val="F4F4F5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pillars · One unified workspace</a:t>
            </a:r>
            <a:endParaRPr lang="en-US" sz="675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123" y="3825143"/>
            <a:ext cx="3163677" cy="71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" name="Text 1"/>
          <p:cNvSpPr/>
          <p:nvPr/>
        </p:nvSpPr>
        <p:spPr>
          <a:xfrm>
            <a:off x="642938" y="462558"/>
            <a:ext cx="4546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KEY FEATURES ·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1513"/>
            <a:ext cx="5205885" cy="29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40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Everything you need. Nothing you don't.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998674"/>
            <a:ext cx="511123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4F4F5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 modules. One workspace. Zero chaos.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28282" y="921579"/>
            <a:ext cx="1381378" cy="261347"/>
          </a:xfrm>
          <a:prstGeom prst="roundRect">
            <a:avLst>
              <a:gd name="adj" fmla="val 3640935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08317" y="991530"/>
            <a:ext cx="107848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OF 24 MODULES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65442" y="10022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460772" y="1373721"/>
            <a:ext cx="1964531" cy="1593726"/>
          </a:xfrm>
          <a:prstGeom prst="roundRect">
            <a:avLst>
              <a:gd name="adj" fmla="val 83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6503" y="1523740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863" y="15491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2170036" y="1520168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92931" y="1891643"/>
            <a:ext cx="170021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Composer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2931" y="2091668"/>
            <a:ext cx="18022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F4F4F5">
                    <a:alpha val="5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platform-specific captions</a:t>
            </a:r>
            <a:endParaRPr lang="en-US" sz="731" dirty="0"/>
          </a:p>
        </p:txBody>
      </p:sp>
      <p:sp>
        <p:nvSpPr>
          <p:cNvPr id="15" name="Text 13"/>
          <p:cNvSpPr/>
          <p:nvPr/>
        </p:nvSpPr>
        <p:spPr>
          <a:xfrm>
            <a:off x="1438403" y="2449525"/>
            <a:ext cx="116577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3"/>
              </a:lnSpc>
              <a:buNone/>
            </a:pPr>
            <a:r>
              <a:rPr lang="en-US" sz="5063" b="1" dirty="0">
                <a:solidFill>
                  <a:srgbClr val="D4AF3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5063" dirty="0"/>
          </a:p>
        </p:txBody>
      </p:sp>
      <p:sp>
        <p:nvSpPr>
          <p:cNvPr id="16" name="Text 14"/>
          <p:cNvSpPr/>
          <p:nvPr/>
        </p:nvSpPr>
        <p:spPr>
          <a:xfrm>
            <a:off x="2546747" y="1373721"/>
            <a:ext cx="1964531" cy="1593726"/>
          </a:xfrm>
          <a:prstGeom prst="roundRect">
            <a:avLst>
              <a:gd name="adj" fmla="val 83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82478" y="1523740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07838" y="15491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4256011" y="1520168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678906" y="1891643"/>
            <a:ext cx="170021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 Calendar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78906" y="2091668"/>
            <a:ext cx="18022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4F4F5">
                    <a:alpha val="5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Drag-and-drop scheduling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4378" y="2449525"/>
            <a:ext cx="116577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3"/>
              </a:lnSpc>
              <a:buNone/>
            </a:pPr>
            <a:r>
              <a:rPr lang="en-US" sz="5063" b="1" dirty="0">
                <a:solidFill>
                  <a:srgbClr val="D4AF3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5063" dirty="0"/>
          </a:p>
        </p:txBody>
      </p:sp>
      <p:sp>
        <p:nvSpPr>
          <p:cNvPr id="23" name="Text 21"/>
          <p:cNvSpPr/>
          <p:nvPr/>
        </p:nvSpPr>
        <p:spPr>
          <a:xfrm>
            <a:off x="4632722" y="1373721"/>
            <a:ext cx="1964531" cy="1593726"/>
          </a:xfrm>
          <a:prstGeom prst="roundRect">
            <a:avLst>
              <a:gd name="adj" fmla="val 83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8453" y="1523740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93813" y="15491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6341986" y="1520168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764881" y="1891643"/>
            <a:ext cx="170021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Inbox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64881" y="2091668"/>
            <a:ext cx="1700213" cy="159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4F4F5">
                    <a:alpha val="5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comments in one place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10353" y="2449525"/>
            <a:ext cx="116577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3"/>
              </a:lnSpc>
              <a:buNone/>
            </a:pPr>
            <a:r>
              <a:rPr lang="en-US" sz="5063" b="1" dirty="0">
                <a:solidFill>
                  <a:srgbClr val="D4AF3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5063" dirty="0"/>
          </a:p>
        </p:txBody>
      </p:sp>
      <p:sp>
        <p:nvSpPr>
          <p:cNvPr id="30" name="Text 28"/>
          <p:cNvSpPr/>
          <p:nvPr/>
        </p:nvSpPr>
        <p:spPr>
          <a:xfrm>
            <a:off x="6718697" y="1373721"/>
            <a:ext cx="1964531" cy="1593726"/>
          </a:xfrm>
          <a:prstGeom prst="roundRect">
            <a:avLst>
              <a:gd name="adj" fmla="val 83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54428" y="1523740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79788" y="15491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8427961" y="1520168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850856" y="1891643"/>
            <a:ext cx="1700212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 Safety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0856" y="2091668"/>
            <a:ext cx="18022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4F4F5">
                    <a:alpha val="5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Anti-suspension protection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96328" y="2449525"/>
            <a:ext cx="116577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3"/>
              </a:lnSpc>
              <a:buNone/>
            </a:pPr>
            <a:r>
              <a:rPr lang="en-US" sz="5063" b="1" dirty="0">
                <a:solidFill>
                  <a:srgbClr val="D4AF3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5063" dirty="0"/>
          </a:p>
        </p:txBody>
      </p:sp>
      <p:sp>
        <p:nvSpPr>
          <p:cNvPr id="37" name="Text 35"/>
          <p:cNvSpPr/>
          <p:nvPr/>
        </p:nvSpPr>
        <p:spPr>
          <a:xfrm>
            <a:off x="460772" y="3088891"/>
            <a:ext cx="1964531" cy="1593838"/>
          </a:xfrm>
          <a:prstGeom prst="roundRect">
            <a:avLst>
              <a:gd name="adj" fmla="val 83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6503" y="3238909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1863" y="326427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2170036" y="3235337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92931" y="3606812"/>
            <a:ext cx="170021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Workflow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2931" y="3806837"/>
            <a:ext cx="18022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4F4F5">
                    <a:alpha val="5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Roles, approvals, assignments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438403" y="4164806"/>
            <a:ext cx="116577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3"/>
              </a:lnSpc>
              <a:buNone/>
            </a:pPr>
            <a:r>
              <a:rPr lang="en-US" sz="5063" b="1" dirty="0">
                <a:solidFill>
                  <a:srgbClr val="D4AF3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5063" dirty="0"/>
          </a:p>
        </p:txBody>
      </p:sp>
      <p:sp>
        <p:nvSpPr>
          <p:cNvPr id="44" name="Text 42"/>
          <p:cNvSpPr/>
          <p:nvPr/>
        </p:nvSpPr>
        <p:spPr>
          <a:xfrm>
            <a:off x="2546747" y="3088891"/>
            <a:ext cx="1964531" cy="1593838"/>
          </a:xfrm>
          <a:prstGeom prst="roundRect">
            <a:avLst>
              <a:gd name="adj" fmla="val 83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682478" y="3238909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707838" y="326427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7" name="Text 45"/>
          <p:cNvSpPr/>
          <p:nvPr/>
        </p:nvSpPr>
        <p:spPr>
          <a:xfrm>
            <a:off x="4256011" y="3235337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2678906" y="3606812"/>
            <a:ext cx="170021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678906" y="3806837"/>
            <a:ext cx="1700213" cy="159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4F4F5">
                    <a:alpha val="5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Cross-platform insights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524378" y="4164806"/>
            <a:ext cx="116577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3"/>
              </a:lnSpc>
              <a:buNone/>
            </a:pPr>
            <a:r>
              <a:rPr lang="en-US" sz="5063" b="1" dirty="0">
                <a:solidFill>
                  <a:srgbClr val="D4AF3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5063" dirty="0"/>
          </a:p>
        </p:txBody>
      </p:sp>
      <p:sp>
        <p:nvSpPr>
          <p:cNvPr id="51" name="Text 49"/>
          <p:cNvSpPr/>
          <p:nvPr/>
        </p:nvSpPr>
        <p:spPr>
          <a:xfrm>
            <a:off x="4632722" y="3088891"/>
            <a:ext cx="1964531" cy="1593838"/>
          </a:xfrm>
          <a:prstGeom prst="roundRect">
            <a:avLst>
              <a:gd name="adj" fmla="val 83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768453" y="3238909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93813" y="326427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54" name="Text 52"/>
          <p:cNvSpPr/>
          <p:nvPr/>
        </p:nvSpPr>
        <p:spPr>
          <a:xfrm>
            <a:off x="6341986" y="3235337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764881" y="3606812"/>
            <a:ext cx="170021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Campaigns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64881" y="3806837"/>
            <a:ext cx="18022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4F4F5">
                    <a:alpha val="5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 marketing campaigns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10353" y="4164806"/>
            <a:ext cx="116577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3"/>
              </a:lnSpc>
              <a:buNone/>
            </a:pPr>
            <a:r>
              <a:rPr lang="en-US" sz="5063" b="1" dirty="0">
                <a:solidFill>
                  <a:srgbClr val="D4AF3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5063" dirty="0"/>
          </a:p>
        </p:txBody>
      </p:sp>
      <p:sp>
        <p:nvSpPr>
          <p:cNvPr id="58" name="Text 56"/>
          <p:cNvSpPr/>
          <p:nvPr/>
        </p:nvSpPr>
        <p:spPr>
          <a:xfrm>
            <a:off x="6718697" y="3088891"/>
            <a:ext cx="1964531" cy="1593838"/>
          </a:xfrm>
          <a:prstGeom prst="roundRect">
            <a:avLst>
              <a:gd name="adj" fmla="val 83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854428" y="3238909"/>
            <a:ext cx="278606" cy="278606"/>
          </a:xfrm>
          <a:prstGeom prst="roundRect">
            <a:avLst>
              <a:gd name="adj" fmla="val 37607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879788" y="326427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D06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547" dirty="0"/>
          </a:p>
        </p:txBody>
      </p:sp>
      <p:sp>
        <p:nvSpPr>
          <p:cNvPr id="61" name="Text 59"/>
          <p:cNvSpPr/>
          <p:nvPr/>
        </p:nvSpPr>
        <p:spPr>
          <a:xfrm>
            <a:off x="8427961" y="3235337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850856" y="3606812"/>
            <a:ext cx="1700212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Competitor Tracking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50856" y="3806837"/>
            <a:ext cx="1700212" cy="159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4F4F5">
                    <a:alpha val="5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 the competition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696328" y="4164806"/>
            <a:ext cx="116577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3"/>
              </a:lnSpc>
              <a:buNone/>
            </a:pPr>
            <a:r>
              <a:rPr lang="en-US" sz="5063" b="1" dirty="0">
                <a:solidFill>
                  <a:srgbClr val="D4AF3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5063" dirty="0"/>
          </a:p>
        </p:txBody>
      </p:sp>
      <p:sp>
        <p:nvSpPr>
          <p:cNvPr id="65" name="Text 63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" name="Text 1"/>
          <p:cNvSpPr/>
          <p:nvPr/>
        </p:nvSpPr>
        <p:spPr>
          <a:xfrm>
            <a:off x="642938" y="462558"/>
            <a:ext cx="29461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SUPPORTED PLATFORMS ·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1513"/>
            <a:ext cx="3288458" cy="34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47" kern="0" dirty="0">
                <a:solidFill>
                  <a:srgbClr val="F5D0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platforms. One click.</a:t>
            </a:r>
            <a:endParaRPr lang="en-US" sz="2363" dirty="0"/>
          </a:p>
        </p:txBody>
      </p:sp>
      <p:sp>
        <p:nvSpPr>
          <p:cNvPr id="5" name="Text 3"/>
          <p:cNvSpPr/>
          <p:nvPr/>
        </p:nvSpPr>
        <p:spPr>
          <a:xfrm>
            <a:off x="457200" y="1043657"/>
            <a:ext cx="313186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4F4F5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Publish to every major social network from a single composer.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77744" y="979363"/>
            <a:ext cx="1909056" cy="235744"/>
          </a:xfrm>
          <a:prstGeom prst="roundRect">
            <a:avLst>
              <a:gd name="adj" fmla="val 4036359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34919" y="1036513"/>
            <a:ext cx="165188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NETWORKS · 1 COMPOSER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92044" y="10472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460772" y="1418704"/>
            <a:ext cx="1095003" cy="1110853"/>
          </a:xfrm>
          <a:prstGeom prst="roundRect">
            <a:avLst>
              <a:gd name="adj" fmla="val 12178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344" y="1422276"/>
            <a:ext cx="1087859" cy="21431"/>
          </a:xfrm>
          <a:prstGeom prst="rect">
            <a:avLst/>
          </a:prstGeom>
          <a:solidFill>
            <a:srgbClr val="E130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79355" y="1479426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84" kern="0" dirty="0">
                <a:solidFill>
                  <a:srgbClr val="F4F4F5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1820" y="1583010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E1306C">
              <a:alpha val="15000"/>
            </a:srgbClr>
          </a:solidFill>
          <a:ln w="7144">
            <a:solidFill>
              <a:srgbClr val="E1306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8248" y="1579438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5A0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564356" y="2079501"/>
            <a:ext cx="887834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Instagram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564356" y="2268810"/>
            <a:ext cx="8878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2,200 chars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48644" y="1418704"/>
            <a:ext cx="1095115" cy="1110853"/>
          </a:xfrm>
          <a:prstGeom prst="roundRect">
            <a:avLst>
              <a:gd name="adj" fmla="val 1217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52215" y="1422276"/>
            <a:ext cx="1087971" cy="21431"/>
          </a:xfrm>
          <a:prstGeom prst="rect">
            <a:avLst/>
          </a:prstGeom>
          <a:solidFill>
            <a:srgbClr val="1877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67339" y="1479426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84" kern="0" dirty="0">
                <a:solidFill>
                  <a:srgbClr val="F4F4F5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99692" y="1583010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1877F2">
              <a:alpha val="15000"/>
            </a:srgbClr>
          </a:solidFill>
          <a:ln w="7144">
            <a:solidFill>
              <a:srgbClr val="1877F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6120" y="1579438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7AAE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FB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1752228" y="2079501"/>
            <a:ext cx="887946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Facebook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1752228" y="2268810"/>
            <a:ext cx="8879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63,206 chars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6627" y="1418704"/>
            <a:ext cx="1095003" cy="1110853"/>
          </a:xfrm>
          <a:prstGeom prst="roundRect">
            <a:avLst>
              <a:gd name="adj" fmla="val 12178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40199" y="1422276"/>
            <a:ext cx="1087859" cy="21431"/>
          </a:xfrm>
          <a:prstGeom prst="rect">
            <a:avLst/>
          </a:prstGeom>
          <a:solidFill>
            <a:srgbClr val="1DA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55210" y="1479426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84" kern="0" dirty="0">
                <a:solidFill>
                  <a:srgbClr val="F4F4F5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87675" y="1583010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1DA1F2">
              <a:alpha val="15000"/>
            </a:srgbClr>
          </a:solidFill>
          <a:ln w="7144">
            <a:solidFill>
              <a:srgbClr val="1DA1F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184103" y="1579438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7CC8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2940211" y="2079501"/>
            <a:ext cx="887834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 (Twitter)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2940211" y="2268810"/>
            <a:ext cx="8878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280 chars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24499" y="1418704"/>
            <a:ext cx="1095115" cy="1110853"/>
          </a:xfrm>
          <a:prstGeom prst="roundRect">
            <a:avLst>
              <a:gd name="adj" fmla="val 1217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28070" y="1422276"/>
            <a:ext cx="1087971" cy="21431"/>
          </a:xfrm>
          <a:prstGeom prst="rect">
            <a:avLst/>
          </a:prstGeom>
          <a:solidFill>
            <a:srgbClr val="0A66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43194" y="1479426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84" kern="0" dirty="0">
                <a:solidFill>
                  <a:srgbClr val="F4F4F5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75547" y="1583010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0A66C2">
              <a:alpha val="18000"/>
            </a:srgbClr>
          </a:solidFill>
          <a:ln w="7144">
            <a:solidFill>
              <a:srgbClr val="0A66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71975" y="1579438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7AA9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4128083" y="2079501"/>
            <a:ext cx="887946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LinkedIn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4128083" y="2268810"/>
            <a:ext cx="8879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3,000 chars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12482" y="1418704"/>
            <a:ext cx="1095003" cy="1110853"/>
          </a:xfrm>
          <a:prstGeom prst="roundRect">
            <a:avLst>
              <a:gd name="adj" fmla="val 12178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16054" y="1422276"/>
            <a:ext cx="1087859" cy="21431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031065" y="1479426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84" kern="0" dirty="0">
                <a:solidFill>
                  <a:srgbClr val="F4F4F5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63530" y="1583010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FFFFFF">
              <a:alpha val="1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559958" y="1579438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TT</a:t>
            </a:r>
            <a:endParaRPr lang="en-US" sz="1013" dirty="0"/>
          </a:p>
        </p:txBody>
      </p:sp>
      <p:sp>
        <p:nvSpPr>
          <p:cNvPr id="42" name="Text 40"/>
          <p:cNvSpPr/>
          <p:nvPr/>
        </p:nvSpPr>
        <p:spPr>
          <a:xfrm>
            <a:off x="5316066" y="2079501"/>
            <a:ext cx="887834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TikTok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5316066" y="2268810"/>
            <a:ext cx="8878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2,200 chars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354" y="1418704"/>
            <a:ext cx="1095003" cy="1110853"/>
          </a:xfrm>
          <a:prstGeom prst="roundRect">
            <a:avLst>
              <a:gd name="adj" fmla="val 12178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403925" y="1422276"/>
            <a:ext cx="1087859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218937" y="1479426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84" kern="0" dirty="0">
                <a:solidFill>
                  <a:srgbClr val="F4F4F5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51402" y="1583010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FF0000">
              <a:alpha val="15000"/>
            </a:srgbClr>
          </a:solidFill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747830" y="1579438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F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YT</a:t>
            </a:r>
            <a:endParaRPr lang="en-US" sz="1013" dirty="0"/>
          </a:p>
        </p:txBody>
      </p:sp>
      <p:sp>
        <p:nvSpPr>
          <p:cNvPr id="49" name="Text 47"/>
          <p:cNvSpPr/>
          <p:nvPr/>
        </p:nvSpPr>
        <p:spPr>
          <a:xfrm>
            <a:off x="6503938" y="2079501"/>
            <a:ext cx="887834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YouTube</a:t>
            </a:r>
            <a:endParaRPr lang="en-US" sz="844" dirty="0"/>
          </a:p>
        </p:txBody>
      </p:sp>
      <p:sp>
        <p:nvSpPr>
          <p:cNvPr id="50" name="Text 48"/>
          <p:cNvSpPr/>
          <p:nvPr/>
        </p:nvSpPr>
        <p:spPr>
          <a:xfrm>
            <a:off x="6503938" y="2268810"/>
            <a:ext cx="8878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5,000 chars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88225" y="1418704"/>
            <a:ext cx="1095003" cy="1110853"/>
          </a:xfrm>
          <a:prstGeom prst="roundRect">
            <a:avLst>
              <a:gd name="adj" fmla="val 12178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591797" y="1422276"/>
            <a:ext cx="1087859" cy="21431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406809" y="1479426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84" kern="0" dirty="0">
                <a:solidFill>
                  <a:srgbClr val="F4F4F5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939274" y="1583010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FFFFFF">
              <a:alpha val="1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935702" y="1579438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</a:t>
            </a:r>
            <a:endParaRPr lang="en-US" sz="1013" dirty="0"/>
          </a:p>
        </p:txBody>
      </p:sp>
      <p:sp>
        <p:nvSpPr>
          <p:cNvPr id="56" name="Text 54"/>
          <p:cNvSpPr/>
          <p:nvPr/>
        </p:nvSpPr>
        <p:spPr>
          <a:xfrm>
            <a:off x="7691810" y="2079501"/>
            <a:ext cx="887834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Threads</a:t>
            </a:r>
            <a:endParaRPr lang="en-US" sz="844" dirty="0"/>
          </a:p>
        </p:txBody>
      </p:sp>
      <p:sp>
        <p:nvSpPr>
          <p:cNvPr id="57" name="Text 55"/>
          <p:cNvSpPr/>
          <p:nvPr/>
        </p:nvSpPr>
        <p:spPr>
          <a:xfrm>
            <a:off x="7691810" y="2268810"/>
            <a:ext cx="8878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4F4F5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 chars</a:t>
            </a:r>
            <a:endParaRPr lang="en-US" sz="8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8040" y="2790304"/>
            <a:ext cx="1927808" cy="360759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036665" y="2904604"/>
            <a:ext cx="1270583" cy="131159"/>
          </a:xfrm>
          <a:prstGeom prst="rect">
            <a:avLst/>
          </a:prstGeom>
          <a:noFill/>
          <a:ln/>
        </p:spPr>
        <p:txBody>
          <a:bodyPr wrap="none" lIns="228600" tIns="100013" rIns="228600" bIns="100013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17" kern="0" dirty="0">
                <a:solidFill>
                  <a:srgbClr val="0A0B0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Post to all 7 in one click</a:t>
            </a:r>
            <a:endParaRPr lang="en-US" sz="844" dirty="0"/>
          </a:p>
        </p:txBody>
      </p:sp>
      <p:sp>
        <p:nvSpPr>
          <p:cNvPr id="60" name="Text 57"/>
          <p:cNvSpPr/>
          <p:nvPr/>
        </p:nvSpPr>
        <p:spPr>
          <a:xfrm>
            <a:off x="3836640" y="290639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B0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61" name="Text 58"/>
          <p:cNvSpPr/>
          <p:nvPr/>
        </p:nvSpPr>
        <p:spPr>
          <a:xfrm>
            <a:off x="2680357" y="3265363"/>
            <a:ext cx="37831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4F4F5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platform's character limit and tone respected automatically by the AI composer.</a:t>
            </a:r>
            <a:endParaRPr lang="en-US" sz="731" dirty="0"/>
          </a:p>
        </p:txBody>
      </p:sp>
      <p:sp>
        <p:nvSpPr>
          <p:cNvPr id="62" name="Text 59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444398"/>
            <a:ext cx="1767587" cy="261347"/>
          </a:xfrm>
          <a:prstGeom prst="roundRect">
            <a:avLst>
              <a:gd name="adj" fmla="val 3640935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514350"/>
            <a:ext cx="135039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39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CROSS-POSTING ENGINE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571500" y="5250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778669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51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post. Seven platform-optimized variants.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1118667"/>
            <a:ext cx="82296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1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Write once. AI adapts the caption for each platform.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460772" y="2045233"/>
            <a:ext cx="1635919" cy="1771650"/>
          </a:xfrm>
          <a:prstGeom prst="roundRect">
            <a:avLst>
              <a:gd name="adj" fmla="val 1164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399114" dist="50800" dir="16200000">
              <a:srgbClr val="D4AF37">
                <a:alpha val="2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28713" y="2191680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53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2953" dirty="0"/>
          </a:p>
        </p:txBody>
      </p:sp>
      <p:sp>
        <p:nvSpPr>
          <p:cNvPr id="9" name="Text 7"/>
          <p:cNvSpPr/>
          <p:nvPr/>
        </p:nvSpPr>
        <p:spPr>
          <a:xfrm>
            <a:off x="877268" y="2577443"/>
            <a:ext cx="802815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Post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24917" y="2820330"/>
            <a:ext cx="9076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source draft</a:t>
            </a:r>
            <a:endParaRPr lang="en-US" sz="731" dirty="0"/>
          </a:p>
        </p:txBody>
      </p:sp>
      <p:sp>
        <p:nvSpPr>
          <p:cNvPr id="11" name="Shape 9"/>
          <p:cNvSpPr/>
          <p:nvPr/>
        </p:nvSpPr>
        <p:spPr>
          <a:xfrm>
            <a:off x="607219" y="3077505"/>
            <a:ext cx="13430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7219" y="3195377"/>
            <a:ext cx="1343025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Brand voice locked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219" y="3363255"/>
            <a:ext cx="1343025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Asset attached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219" y="3531133"/>
            <a:ext cx="1343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Hashtag pool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138" y="2813186"/>
            <a:ext cx="357188" cy="71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643188" y="2695315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391" dirty="0"/>
          </a:p>
        </p:txBody>
      </p:sp>
      <p:sp>
        <p:nvSpPr>
          <p:cNvPr id="17" name="Text 14"/>
          <p:cNvSpPr/>
          <p:nvPr/>
        </p:nvSpPr>
        <p:spPr>
          <a:xfrm>
            <a:off x="2291202" y="3007782"/>
            <a:ext cx="546698" cy="168021"/>
          </a:xfrm>
          <a:prstGeom prst="roundRect">
            <a:avLst>
              <a:gd name="adj" fmla="val 5663265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269829" y="3016783"/>
            <a:ext cx="5894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ADAPT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028950" y="1461567"/>
            <a:ext cx="2793206" cy="681112"/>
          </a:xfrm>
          <a:prstGeom prst="roundRect">
            <a:avLst>
              <a:gd name="adj" fmla="val 1957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028950" y="1465138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18584" y="1461567"/>
            <a:ext cx="0" cy="68111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28950" y="2139107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39666" y="1461567"/>
            <a:ext cx="0" cy="681112"/>
          </a:xfrm>
          <a:prstGeom prst="line">
            <a:avLst/>
          </a:prstGeom>
          <a:noFill/>
          <a:ln w="21431">
            <a:solidFill>
              <a:srgbClr val="E1306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50394" y="155443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130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150394" y="1554435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21856" y="1554435"/>
            <a:ext cx="229314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Instagram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421856" y="1683023"/>
            <a:ext cx="2293144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Loving the new collection! ✨ Shop now </a:t>
            </a:r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👉</a:t>
            </a:r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#fashion #newdrop</a:t>
            </a:r>
            <a:endParaRPr lang="en-US" sz="619" dirty="0"/>
          </a:p>
        </p:txBody>
      </p:sp>
      <p:sp>
        <p:nvSpPr>
          <p:cNvPr id="28" name="Text 25"/>
          <p:cNvSpPr/>
          <p:nvPr/>
        </p:nvSpPr>
        <p:spPr>
          <a:xfrm>
            <a:off x="5893594" y="1461567"/>
            <a:ext cx="2793206" cy="681112"/>
          </a:xfrm>
          <a:prstGeom prst="roundRect">
            <a:avLst>
              <a:gd name="adj" fmla="val 1957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5893594" y="1465138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83228" y="1461567"/>
            <a:ext cx="0" cy="68111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93594" y="2139107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04309" y="1461567"/>
            <a:ext cx="0" cy="681112"/>
          </a:xfrm>
          <a:prstGeom prst="line">
            <a:avLst/>
          </a:prstGeom>
          <a:noFill/>
          <a:ln w="21431">
            <a:solidFill>
              <a:srgbClr val="1877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15038" y="155443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1877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015038" y="1554435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FB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286500" y="1554435"/>
            <a:ext cx="229314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Facebook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286500" y="1683023"/>
            <a:ext cx="2293144" cy="28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new collection is here! Shop the full range on our website today.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028950" y="2214116"/>
            <a:ext cx="2793206" cy="681224"/>
          </a:xfrm>
          <a:prstGeom prst="roundRect">
            <a:avLst>
              <a:gd name="adj" fmla="val 1957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3028950" y="2217688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818584" y="2214116"/>
            <a:ext cx="0" cy="68122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028950" y="2891768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039666" y="2214116"/>
            <a:ext cx="0" cy="681224"/>
          </a:xfrm>
          <a:prstGeom prst="line">
            <a:avLst/>
          </a:prstGeom>
          <a:noFill/>
          <a:ln w="21431">
            <a:solidFill>
              <a:srgbClr val="1DA1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150394" y="230698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1DA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150394" y="2306985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421856" y="2306985"/>
            <a:ext cx="229314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 (Twitter)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421856" y="2435572"/>
            <a:ext cx="2402872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drop just landed. Shop now → #fashion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893594" y="2214116"/>
            <a:ext cx="2793206" cy="681224"/>
          </a:xfrm>
          <a:prstGeom prst="roundRect">
            <a:avLst>
              <a:gd name="adj" fmla="val 1957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5893594" y="2217688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683228" y="2214116"/>
            <a:ext cx="0" cy="68122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93594" y="2891768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904309" y="2214116"/>
            <a:ext cx="0" cy="681224"/>
          </a:xfrm>
          <a:prstGeom prst="line">
            <a:avLst/>
          </a:prstGeom>
          <a:noFill/>
          <a:ln w="21431">
            <a:solidFill>
              <a:srgbClr val="0A66C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015038" y="230698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A66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015038" y="2306985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286500" y="2306985"/>
            <a:ext cx="229314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LinkedIn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6286500" y="2435572"/>
            <a:ext cx="2293144" cy="28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Excited to announce our latest collection, designed for the modern professional.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028950" y="2966777"/>
            <a:ext cx="2793206" cy="681112"/>
          </a:xfrm>
          <a:prstGeom prst="roundRect">
            <a:avLst>
              <a:gd name="adj" fmla="val 1957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3"/>
          <p:cNvSpPr/>
          <p:nvPr/>
        </p:nvSpPr>
        <p:spPr>
          <a:xfrm>
            <a:off x="3028950" y="2970349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818584" y="2966777"/>
            <a:ext cx="0" cy="68111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028950" y="3644317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039666" y="2966777"/>
            <a:ext cx="0" cy="681112"/>
          </a:xfrm>
          <a:prstGeom prst="line">
            <a:avLst/>
          </a:prstGeom>
          <a:noFill/>
          <a:ln w="21431">
            <a:solidFill>
              <a:srgbClr val="0000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150394" y="3059646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3150394" y="305964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TT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3421856" y="3059646"/>
            <a:ext cx="229314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TikTok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421856" y="3188233"/>
            <a:ext cx="2402872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POV: you just saw the new drop </a:t>
            </a:r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🔥</a:t>
            </a:r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#fyp #fashion</a:t>
            </a:r>
            <a:endParaRPr lang="en-US" sz="619" dirty="0"/>
          </a:p>
        </p:txBody>
      </p:sp>
      <p:sp>
        <p:nvSpPr>
          <p:cNvPr id="64" name="Text 61"/>
          <p:cNvSpPr/>
          <p:nvPr/>
        </p:nvSpPr>
        <p:spPr>
          <a:xfrm>
            <a:off x="5893594" y="2966777"/>
            <a:ext cx="2793206" cy="681112"/>
          </a:xfrm>
          <a:prstGeom prst="roundRect">
            <a:avLst>
              <a:gd name="adj" fmla="val 1957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2"/>
          <p:cNvSpPr/>
          <p:nvPr/>
        </p:nvSpPr>
        <p:spPr>
          <a:xfrm>
            <a:off x="5893594" y="2970349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683228" y="2966777"/>
            <a:ext cx="0" cy="68111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893594" y="3644317"/>
            <a:ext cx="27932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904309" y="2966777"/>
            <a:ext cx="0" cy="681112"/>
          </a:xfrm>
          <a:prstGeom prst="line">
            <a:avLst/>
          </a:prstGeom>
          <a:noFill/>
          <a:ln w="21431">
            <a:solidFill>
              <a:srgbClr val="FF000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015038" y="3059646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6015038" y="305964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YT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6286500" y="3059646"/>
            <a:ext cx="229314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YouTube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6286500" y="3188233"/>
            <a:ext cx="2293144" cy="28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Watch our new collection showcase video now live on our channel.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3028950" y="3719326"/>
            <a:ext cx="5657850" cy="681224"/>
          </a:xfrm>
          <a:prstGeom prst="roundRect">
            <a:avLst>
              <a:gd name="adj" fmla="val 1957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1"/>
          <p:cNvSpPr/>
          <p:nvPr/>
        </p:nvSpPr>
        <p:spPr>
          <a:xfrm>
            <a:off x="3028950" y="3722898"/>
            <a:ext cx="56578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683228" y="3719326"/>
            <a:ext cx="0" cy="68122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028950" y="4396978"/>
            <a:ext cx="56578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039666" y="3719326"/>
            <a:ext cx="0" cy="681224"/>
          </a:xfrm>
          <a:prstGeom prst="line">
            <a:avLst/>
          </a:prstGeom>
          <a:noFill/>
          <a:ln w="21431">
            <a:solidFill>
              <a:srgbClr val="00000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150394" y="381219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6"/>
          <p:cNvSpPr/>
          <p:nvPr/>
        </p:nvSpPr>
        <p:spPr>
          <a:xfrm>
            <a:off x="3150394" y="3812195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3421856" y="3812195"/>
            <a:ext cx="5157788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Threads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3421856" y="3940783"/>
            <a:ext cx="5267515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collection just dropped. What do you think?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457200" y="45577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83" name="Text 80"/>
          <p:cNvSpPr/>
          <p:nvPr/>
        </p:nvSpPr>
        <p:spPr>
          <a:xfrm>
            <a:off x="628650" y="4543425"/>
            <a:ext cx="8058150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variant respects platform tone, length, and hashtag conventions.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444398"/>
            <a:ext cx="1281812" cy="261347"/>
          </a:xfrm>
          <a:prstGeom prst="roundRect">
            <a:avLst>
              <a:gd name="adj" fmla="val 3640935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7154" y="514350"/>
            <a:ext cx="95906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39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PLANS &amp; LIMITS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571500" y="5250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778669"/>
            <a:ext cx="8636000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363" b="1" spc="-59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Plans &amp; Limits</a:t>
            </a:r>
            <a:endParaRPr lang="en-US" sz="2363" dirty="0"/>
          </a:p>
        </p:txBody>
      </p:sp>
      <p:sp>
        <p:nvSpPr>
          <p:cNvPr id="6" name="Text 4"/>
          <p:cNvSpPr/>
          <p:nvPr/>
        </p:nvSpPr>
        <p:spPr>
          <a:xfrm>
            <a:off x="457200" y="1165771"/>
            <a:ext cx="86360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many accounts and pages you can manage.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460772" y="1533674"/>
            <a:ext cx="2640732" cy="2677567"/>
          </a:xfrm>
          <a:prstGeom prst="roundRect">
            <a:avLst>
              <a:gd name="adj" fmla="val 721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708696"/>
            <a:ext cx="6256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97894" y="16944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621506" y="1923008"/>
            <a:ext cx="111889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dirty="0">
                <a:solidFill>
                  <a:srgbClr val="F5D0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$299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349387" y="2158752"/>
            <a:ext cx="15913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/mo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451646"/>
            <a:ext cx="242899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solo creators &amp; small teams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680246"/>
            <a:ext cx="2319263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8669" y="2844552"/>
            <a:ext cx="890597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social accounts</a:t>
            </a:r>
            <a:endParaRPr lang="en-US" sz="731" dirty="0"/>
          </a:p>
        </p:txBody>
      </p:sp>
      <p:sp>
        <p:nvSpPr>
          <p:cNvPr id="15" name="Text 13"/>
          <p:cNvSpPr/>
          <p:nvPr/>
        </p:nvSpPr>
        <p:spPr>
          <a:xfrm>
            <a:off x="621506" y="28499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766854" y="3041005"/>
            <a:ext cx="392826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4F4F5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user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506" y="30463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778669" y="3237458"/>
            <a:ext cx="1148442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AI composer (100/mo)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621506" y="324281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0" name="Text 18"/>
          <p:cNvSpPr/>
          <p:nvPr/>
        </p:nvSpPr>
        <p:spPr>
          <a:xfrm>
            <a:off x="778669" y="3433911"/>
            <a:ext cx="767814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 analytics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621506" y="34392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2" name="Text 20"/>
          <p:cNvSpPr/>
          <p:nvPr/>
        </p:nvSpPr>
        <p:spPr>
          <a:xfrm>
            <a:off x="754575" y="3630364"/>
            <a:ext cx="757958" cy="12660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support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621506" y="363572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3251522" y="1490811"/>
            <a:ext cx="2640843" cy="2677567"/>
          </a:xfrm>
          <a:prstGeom prst="roundRect">
            <a:avLst>
              <a:gd name="adj" fmla="val 7214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72630" y="1405301"/>
            <a:ext cx="998518" cy="196025"/>
          </a:xfrm>
          <a:prstGeom prst="roundRect">
            <a:avLst>
              <a:gd name="adj" fmla="val 485421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84747" y="1415802"/>
            <a:ext cx="9742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1" kern="0" dirty="0">
                <a:solidFill>
                  <a:srgbClr val="0A0B0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★ MOST POPULAR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12257" y="1722983"/>
            <a:ext cx="602928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b="1" spc="68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GROWTH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88757" y="170869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3412257" y="1937296"/>
            <a:ext cx="111889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dirty="0">
                <a:solidFill>
                  <a:srgbClr val="F5D0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$499</a:t>
            </a:r>
            <a:endParaRPr lang="en-US" sz="2475" dirty="0"/>
          </a:p>
        </p:txBody>
      </p:sp>
      <p:sp>
        <p:nvSpPr>
          <p:cNvPr id="30" name="Text 28"/>
          <p:cNvSpPr/>
          <p:nvPr/>
        </p:nvSpPr>
        <p:spPr>
          <a:xfrm>
            <a:off x="4140138" y="2173039"/>
            <a:ext cx="15914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/mo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12257" y="2465933"/>
            <a:ext cx="24291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growing teams that publish daily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12257" y="2694533"/>
            <a:ext cx="2319375" cy="7144"/>
          </a:xfrm>
          <a:prstGeom prst="rect">
            <a:avLst/>
          </a:prstGeom>
          <a:solidFill>
            <a:srgbClr val="D4AF37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69419" y="2858839"/>
            <a:ext cx="955058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social accounts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3412257" y="28641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5" name="Text 33"/>
          <p:cNvSpPr/>
          <p:nvPr/>
        </p:nvSpPr>
        <p:spPr>
          <a:xfrm>
            <a:off x="3559634" y="3055293"/>
            <a:ext cx="455168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4F4F5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users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12257" y="30606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7" name="Text 35"/>
          <p:cNvSpPr/>
          <p:nvPr/>
        </p:nvSpPr>
        <p:spPr>
          <a:xfrm>
            <a:off x="3569419" y="3251746"/>
            <a:ext cx="1161417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Unlimited AI composer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3412257" y="325710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9" name="Text 37"/>
          <p:cNvSpPr/>
          <p:nvPr/>
        </p:nvSpPr>
        <p:spPr>
          <a:xfrm>
            <a:off x="3569419" y="3448199"/>
            <a:ext cx="1000265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3412257" y="345355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1" name="Text 39"/>
          <p:cNvSpPr/>
          <p:nvPr/>
        </p:nvSpPr>
        <p:spPr>
          <a:xfrm>
            <a:off x="3569419" y="3644652"/>
            <a:ext cx="961616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 protection</a:t>
            </a:r>
            <a:endParaRPr lang="en-US" sz="731" dirty="0"/>
          </a:p>
        </p:txBody>
      </p:sp>
      <p:sp>
        <p:nvSpPr>
          <p:cNvPr id="42" name="Text 40"/>
          <p:cNvSpPr/>
          <p:nvPr/>
        </p:nvSpPr>
        <p:spPr>
          <a:xfrm>
            <a:off x="3412257" y="36500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3" name="Text 41"/>
          <p:cNvSpPr/>
          <p:nvPr/>
        </p:nvSpPr>
        <p:spPr>
          <a:xfrm>
            <a:off x="3569419" y="3841105"/>
            <a:ext cx="780650" cy="12660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Priority support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3412257" y="38464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5" name="Text 43"/>
          <p:cNvSpPr/>
          <p:nvPr/>
        </p:nvSpPr>
        <p:spPr>
          <a:xfrm>
            <a:off x="6042385" y="1533674"/>
            <a:ext cx="2640732" cy="2677567"/>
          </a:xfrm>
          <a:prstGeom prst="roundRect">
            <a:avLst>
              <a:gd name="adj" fmla="val 721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03119" y="1708696"/>
            <a:ext cx="795991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79507" y="16944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406" dirty="0"/>
          </a:p>
        </p:txBody>
      </p:sp>
      <p:sp>
        <p:nvSpPr>
          <p:cNvPr id="48" name="Text 46"/>
          <p:cNvSpPr/>
          <p:nvPr/>
        </p:nvSpPr>
        <p:spPr>
          <a:xfrm>
            <a:off x="6203119" y="1923008"/>
            <a:ext cx="2319263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</a:t>
            </a:r>
            <a:endParaRPr lang="en-US" sz="2475" dirty="0"/>
          </a:p>
        </p:txBody>
      </p:sp>
      <p:sp>
        <p:nvSpPr>
          <p:cNvPr id="49" name="Text 47"/>
          <p:cNvSpPr/>
          <p:nvPr/>
        </p:nvSpPr>
        <p:spPr>
          <a:xfrm>
            <a:off x="6203119" y="2451646"/>
            <a:ext cx="242899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large teams with custom needs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03119" y="2680246"/>
            <a:ext cx="2319263" cy="714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60282" y="2844552"/>
            <a:ext cx="980731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Unlimited accounts</a:t>
            </a:r>
            <a:endParaRPr lang="en-US" sz="731" dirty="0"/>
          </a:p>
        </p:txBody>
      </p:sp>
      <p:sp>
        <p:nvSpPr>
          <p:cNvPr id="52" name="Text 50"/>
          <p:cNvSpPr/>
          <p:nvPr/>
        </p:nvSpPr>
        <p:spPr>
          <a:xfrm>
            <a:off x="6203119" y="28499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3" name="Text 51"/>
          <p:cNvSpPr/>
          <p:nvPr/>
        </p:nvSpPr>
        <p:spPr>
          <a:xfrm>
            <a:off x="6360282" y="3041005"/>
            <a:ext cx="800044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Unlimited users</a:t>
            </a:r>
            <a:endParaRPr lang="en-US" sz="731" dirty="0"/>
          </a:p>
        </p:txBody>
      </p:sp>
      <p:sp>
        <p:nvSpPr>
          <p:cNvPr id="54" name="Text 52"/>
          <p:cNvSpPr/>
          <p:nvPr/>
        </p:nvSpPr>
        <p:spPr>
          <a:xfrm>
            <a:off x="6203119" y="30463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5" name="Text 53"/>
          <p:cNvSpPr/>
          <p:nvPr/>
        </p:nvSpPr>
        <p:spPr>
          <a:xfrm>
            <a:off x="6360282" y="3237458"/>
            <a:ext cx="1412844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domain mail server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03119" y="324281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7" name="Text 55"/>
          <p:cNvSpPr/>
          <p:nvPr/>
        </p:nvSpPr>
        <p:spPr>
          <a:xfrm>
            <a:off x="6360282" y="3433911"/>
            <a:ext cx="693586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SSO + SAML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03119" y="34392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9" name="Text 57"/>
          <p:cNvSpPr/>
          <p:nvPr/>
        </p:nvSpPr>
        <p:spPr>
          <a:xfrm>
            <a:off x="6360282" y="3630364"/>
            <a:ext cx="1265542" cy="12615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4F4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success manager</a:t>
            </a:r>
            <a:endParaRPr lang="en-US" sz="731" dirty="0"/>
          </a:p>
        </p:txBody>
      </p:sp>
      <p:sp>
        <p:nvSpPr>
          <p:cNvPr id="60" name="Text 58"/>
          <p:cNvSpPr/>
          <p:nvPr/>
        </p:nvSpPr>
        <p:spPr>
          <a:xfrm>
            <a:off x="6203119" y="363572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1" name="Text 59"/>
          <p:cNvSpPr/>
          <p:nvPr/>
        </p:nvSpPr>
        <p:spPr>
          <a:xfrm>
            <a:off x="6360282" y="3826818"/>
            <a:ext cx="664490" cy="126609"/>
          </a:xfrm>
          <a:prstGeom prst="rect">
            <a:avLst/>
          </a:prstGeom>
          <a:noFill/>
          <a:ln/>
        </p:spPr>
        <p:txBody>
          <a:bodyPr wrap="none" lIns="0" tIns="28575" rIns="0" bIns="28575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4F4F5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99.9% SLA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03119" y="383217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3" name="Text 61"/>
          <p:cNvSpPr/>
          <p:nvPr/>
        </p:nvSpPr>
        <p:spPr>
          <a:xfrm>
            <a:off x="460772" y="4361259"/>
            <a:ext cx="8222456" cy="321469"/>
          </a:xfrm>
          <a:prstGeom prst="roundRect">
            <a:avLst>
              <a:gd name="adj" fmla="val 3555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78644" y="44577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65" name="Text 63"/>
          <p:cNvSpPr/>
          <p:nvPr/>
        </p:nvSpPr>
        <p:spPr>
          <a:xfrm>
            <a:off x="764381" y="4450556"/>
            <a:ext cx="780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plan supports cross-posting to all 7 platforms. Select up to your plan's account limit per post.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309775" cy="235744"/>
          </a:xfrm>
          <a:prstGeom prst="roundRect">
            <a:avLst>
              <a:gd name="adj" fmla="val 4036359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514350"/>
            <a:ext cx="1938300" cy="125403"/>
          </a:xfrm>
          <a:prstGeom prst="rect">
            <a:avLst/>
          </a:prstGeom>
          <a:noFill/>
          <a:ln/>
        </p:spPr>
        <p:txBody>
          <a:bodyPr wrap="none" lIns="114300" tIns="42863" rIns="114300" bIns="42863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MULTI-WORKSPACE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71500" y="5250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778669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Isolated databases. Zero data mixing.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1118667"/>
            <a:ext cx="82296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client gets their own dedicated Neon PostgreSQL database.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2718197" y="1486570"/>
            <a:ext cx="3707606" cy="789384"/>
          </a:xfrm>
          <a:prstGeom prst="roundRect">
            <a:avLst>
              <a:gd name="adj" fmla="val 19306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381000" dist="50800" dir="16200000">
              <a:srgbClr val="D4AF37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64644" y="162944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93576" y="165837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3231454" y="1618729"/>
            <a:ext cx="1064653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 Database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3236119" y="1811610"/>
            <a:ext cx="105532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 control plane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864644" y="1973416"/>
            <a:ext cx="819857" cy="180023"/>
          </a:xfrm>
          <a:prstGeom prst="roundRect">
            <a:avLst>
              <a:gd name="adj" fmla="val 5285700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64644" y="1983060"/>
            <a:ext cx="81985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registry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41651" y="1973416"/>
            <a:ext cx="321804" cy="180023"/>
          </a:xfrm>
          <a:prstGeom prst="roundRect">
            <a:avLst>
              <a:gd name="adj" fmla="val 5285700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41651" y="1983060"/>
            <a:ext cx="32180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20604" y="1973416"/>
            <a:ext cx="483319" cy="180023"/>
          </a:xfrm>
          <a:prstGeom prst="roundRect">
            <a:avLst>
              <a:gd name="adj" fmla="val 5285700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72338" y="1983060"/>
            <a:ext cx="57985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log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05013" y="2346201"/>
            <a:ext cx="28575" cy="28575"/>
          </a:xfrm>
          <a:prstGeom prst="ellipse">
            <a:avLst/>
          </a:prstGeom>
          <a:solidFill>
            <a:srgbClr val="D4AF37">
              <a:alpha val="6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33576" y="242240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4557601" y="2346201"/>
            <a:ext cx="28575" cy="28575"/>
          </a:xfrm>
          <a:prstGeom prst="ellipse">
            <a:avLst/>
          </a:prstGeom>
          <a:solidFill>
            <a:srgbClr val="D4AF37">
              <a:alpha val="6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86163" y="242240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6510300" y="2346201"/>
            <a:ext cx="28575" cy="28575"/>
          </a:xfrm>
          <a:prstGeom prst="ellipse">
            <a:avLst/>
          </a:prstGeom>
          <a:solidFill>
            <a:srgbClr val="D4AF37">
              <a:alpha val="6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38863" y="242240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717947" y="2654573"/>
            <a:ext cx="2469282" cy="660797"/>
          </a:xfrm>
          <a:prstGeom prst="roundRect">
            <a:avLst>
              <a:gd name="adj" fmla="val 2306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34C759"/>
            </a:solidFill>
            <a:prstDash val="solid"/>
          </a:ln>
          <a:effectLst>
            <a:outerShdw sx="100000" sy="100000" kx="0" ky="0" algn="bl" rotWithShape="0" blurRad="238125" dist="50800" dir="16200000">
              <a:srgbClr val="34C759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4394" y="2786732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34C75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1539" y="280387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121569" y="2806378"/>
            <a:ext cx="19192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Tenant DB — Client A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864394" y="3043907"/>
            <a:ext cx="228611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675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Posts · Accounts · Media · Comments · Analytics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337247" y="2654573"/>
            <a:ext cx="2469393" cy="660797"/>
          </a:xfrm>
          <a:prstGeom prst="roundRect">
            <a:avLst>
              <a:gd name="adj" fmla="val 2306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007AFF"/>
            </a:solidFill>
            <a:prstDash val="solid"/>
          </a:ln>
          <a:effectLst>
            <a:outerShdw sx="100000" sy="100000" kx="0" ky="0" algn="bl" rotWithShape="0" blurRad="238125" dist="50800" dir="16200000">
              <a:srgbClr val="007AFF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83694" y="2786732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007A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00839" y="280387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7A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3740869" y="2806378"/>
            <a:ext cx="19193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Tenant DB — Client B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3483694" y="3043907"/>
            <a:ext cx="228622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675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Posts · Accounts · Media · Comments · Analytics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956660" y="2654573"/>
            <a:ext cx="2469282" cy="660797"/>
          </a:xfrm>
          <a:prstGeom prst="roundRect">
            <a:avLst>
              <a:gd name="adj" fmla="val 2306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AF52DE"/>
            </a:solidFill>
            <a:prstDash val="solid"/>
          </a:ln>
          <a:effectLst>
            <a:outerShdw sx="100000" sy="100000" kx="0" ky="0" algn="bl" rotWithShape="0" blurRad="238125" dist="50800" dir="16200000">
              <a:srgbClr val="AF52DE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03107" y="2786732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AF52D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20252" y="280387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AF52D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360282" y="2806378"/>
            <a:ext cx="19192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Tenant DB — Client C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6103107" y="3043907"/>
            <a:ext cx="228611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675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Posts · Accounts · Media · Comments · Analytics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60772" y="4361259"/>
            <a:ext cx="8222456" cy="321469"/>
          </a:xfrm>
          <a:prstGeom prst="roundRect">
            <a:avLst>
              <a:gd name="adj" fmla="val 35556"/>
            </a:avLst>
          </a:prstGeom>
          <a:solidFill>
            <a:srgbClr val="D4AF37">
              <a:alpha val="6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8644" y="44577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764381" y="4450556"/>
            <a:ext cx="780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client's data lives in a completely separate database — your data never mixes with anyone else's.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444398"/>
            <a:ext cx="1183474" cy="261347"/>
          </a:xfrm>
          <a:prstGeom prst="roundRect">
            <a:avLst>
              <a:gd name="adj" fmla="val 3640935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1297" y="514350"/>
            <a:ext cx="81243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COMPOSER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71500" y="5250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778669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51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writes the right caption for every platform.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1118667"/>
            <a:ext cx="82296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brief. Different tone. Platform-perfect output.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460772" y="1457995"/>
            <a:ext cx="2640732" cy="2753246"/>
          </a:xfrm>
          <a:prstGeom prst="roundRect">
            <a:avLst>
              <a:gd name="adj" fmla="val 649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E1306C"/>
            </a:solidFill>
            <a:prstDash val="solid"/>
          </a:ln>
          <a:effectLst>
            <a:outerShdw sx="100000" sy="100000" kx="0" ky="0" algn="bl" rotWithShape="0" blurRad="190500" dist="50800" dir="16200000">
              <a:srgbClr val="E1306C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219" y="1611585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1306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9007" y="163337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306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950119" y="1604442"/>
            <a:ext cx="144946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0119" y="1775892"/>
            <a:ext cx="12229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· Trendy · Hashtag-rich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610791" y="1993776"/>
            <a:ext cx="2340694" cy="1878137"/>
          </a:xfrm>
          <a:prstGeom prst="roundRect">
            <a:avLst>
              <a:gd name="adj" fmla="val 6086"/>
            </a:avLst>
          </a:prstGeom>
          <a:solidFill>
            <a:srgbClr val="000000">
              <a:alpha val="4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7219" y="1990204"/>
            <a:ext cx="2347838" cy="1943573"/>
          </a:xfrm>
          <a:prstGeom prst="rect">
            <a:avLst/>
          </a:prstGeom>
          <a:noFill/>
          <a:ln/>
        </p:spPr>
        <p:txBody>
          <a:bodyPr wrap="square" lIns="100013" tIns="100013" rIns="100013" bIns="100013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collection just dropped! ✨ Swipe to see the full lookbook → Which piece is your favorite?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#fashion #newdrop #style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4375" y="3975497"/>
            <a:ext cx="173470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145 chars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7219" y="39772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2514441" y="3975497"/>
            <a:ext cx="49669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hashtags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2463366" y="39772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3251522" y="1457995"/>
            <a:ext cx="2640843" cy="2753246"/>
          </a:xfrm>
          <a:prstGeom prst="roundRect">
            <a:avLst>
              <a:gd name="adj" fmla="val 649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0A66C2"/>
            </a:solidFill>
            <a:prstDash val="solid"/>
          </a:ln>
          <a:effectLst>
            <a:outerShdw sx="100000" sy="100000" kx="0" ky="0" algn="bl" rotWithShape="0" blurRad="190500" dist="50800" dir="16200000">
              <a:srgbClr val="0A66C2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97969" y="1611585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0A66C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19758" y="163337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A66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3740869" y="1604442"/>
            <a:ext cx="178079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LinkedIn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0869" y="1775892"/>
            <a:ext cx="150254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Professional · Long-form · Reflective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401541" y="1993776"/>
            <a:ext cx="2340806" cy="1878137"/>
          </a:xfrm>
          <a:prstGeom prst="roundRect">
            <a:avLst>
              <a:gd name="adj" fmla="val 6086"/>
            </a:avLst>
          </a:prstGeom>
          <a:solidFill>
            <a:srgbClr val="000000">
              <a:alpha val="4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97969" y="1990204"/>
            <a:ext cx="2347950" cy="1943573"/>
          </a:xfrm>
          <a:prstGeom prst="rect">
            <a:avLst/>
          </a:prstGeom>
          <a:noFill/>
          <a:ln/>
        </p:spPr>
        <p:txBody>
          <a:bodyPr wrap="square" lIns="100013" tIns="100013" rIns="100013" bIns="100013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We're excited to launch our latest collection — a result of months of research into what modern professionals need. Explore the full range on our website.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05126" y="3975497"/>
            <a:ext cx="167811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178 chars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97969" y="39772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5252843" y="3975497"/>
            <a:ext cx="54491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hashtags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5197525" y="39772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6042385" y="1457995"/>
            <a:ext cx="2640732" cy="2753246"/>
          </a:xfrm>
          <a:prstGeom prst="roundRect">
            <a:avLst>
              <a:gd name="adj" fmla="val 649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1DA1F2"/>
            </a:solidFill>
            <a:prstDash val="solid"/>
          </a:ln>
          <a:effectLst>
            <a:outerShdw sx="100000" sy="100000" kx="0" ky="0" algn="bl" rotWithShape="0" blurRad="190500" dist="50800" dir="16200000">
              <a:srgbClr val="1DA1F2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88832" y="1611585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1DA1F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0620" y="163337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DA1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6531732" y="1604442"/>
            <a:ext cx="98271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 (Twitter)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1732" y="1775892"/>
            <a:ext cx="922347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Punchy · Brief · Direct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192403" y="1993776"/>
            <a:ext cx="2340694" cy="1878137"/>
          </a:xfrm>
          <a:prstGeom prst="roundRect">
            <a:avLst>
              <a:gd name="adj" fmla="val 6086"/>
            </a:avLst>
          </a:prstGeom>
          <a:solidFill>
            <a:srgbClr val="000000">
              <a:alpha val="40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8832" y="1990204"/>
            <a:ext cx="2347838" cy="1943573"/>
          </a:xfrm>
          <a:prstGeom prst="rect">
            <a:avLst/>
          </a:prstGeom>
          <a:noFill/>
          <a:ln/>
        </p:spPr>
        <p:txBody>
          <a:bodyPr wrap="square" lIns="100013" tIns="100013" rIns="100013" bIns="100013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drop just landed. 7 pieces. 1 collection. 0 compromises. Shop now → #fashion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95988" y="3975497"/>
            <a:ext cx="17739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 chars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88832" y="39772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8139808" y="3975497"/>
            <a:ext cx="44847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hashtag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8084269" y="39772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460772" y="4361259"/>
            <a:ext cx="8222456" cy="321469"/>
          </a:xfrm>
          <a:prstGeom prst="roundRect">
            <a:avLst>
              <a:gd name="adj" fmla="val 3555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8644" y="44577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66" dirty="0"/>
          </a:p>
        </p:txBody>
      </p:sp>
      <p:sp>
        <p:nvSpPr>
          <p:cNvPr id="42" name="Text 40"/>
          <p:cNvSpPr/>
          <p:nvPr/>
        </p:nvSpPr>
        <p:spPr>
          <a:xfrm>
            <a:off x="764381" y="4450556"/>
            <a:ext cx="780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AI respects each platform's character limit, tone, and hashtag conventions.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444398"/>
            <a:ext cx="1409618" cy="261347"/>
          </a:xfrm>
          <a:prstGeom prst="roundRect">
            <a:avLst>
              <a:gd name="adj" fmla="val 3640935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514350"/>
            <a:ext cx="99242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 SAFETY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71500" y="5250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778669"/>
            <a:ext cx="86360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363" b="1" spc="-59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accounts are protected.</a:t>
            </a:r>
            <a:endParaRPr lang="en-US" sz="2363" dirty="0"/>
          </a:p>
        </p:txBody>
      </p:sp>
      <p:sp>
        <p:nvSpPr>
          <p:cNvPr id="6" name="Text 4"/>
          <p:cNvSpPr/>
          <p:nvPr/>
        </p:nvSpPr>
        <p:spPr>
          <a:xfrm>
            <a:off x="457200" y="1165771"/>
            <a:ext cx="82296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Anti-suspension guards built into every publish.</a:t>
            </a:r>
            <a:endParaRPr lang="en-US" sz="101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7000"/>
          </a:blip>
          <a:stretch>
            <a:fillRect/>
          </a:stretch>
        </p:blipFill>
        <p:spPr>
          <a:xfrm>
            <a:off x="660581" y="1781033"/>
            <a:ext cx="2022113" cy="20221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0581" y="1781033"/>
            <a:ext cx="2022113" cy="2022114"/>
          </a:xfrm>
          <a:prstGeom prst="ellipse">
            <a:avLst/>
          </a:prstGeom>
          <a:solidFill>
            <a:srgbClr val="34C759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89397" y="2009849"/>
            <a:ext cx="1564481" cy="1564481"/>
          </a:xfrm>
          <a:prstGeom prst="ellipse">
            <a:avLst/>
          </a:prstGeom>
          <a:noFill/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 rot="420000">
            <a:off x="1000374" y="2120827"/>
            <a:ext cx="1342527" cy="1342527"/>
          </a:xfrm>
          <a:prstGeom prst="ellipse">
            <a:avLst/>
          </a:prstGeom>
          <a:noFill/>
          <a:ln w="7144">
            <a:solidFill>
              <a:srgbClr val="34C759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50454" y="3910087"/>
            <a:ext cx="1442256" cy="196453"/>
          </a:xfrm>
          <a:prstGeom prst="roundRect">
            <a:avLst>
              <a:gd name="adj" fmla="val 4843639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175482" y="3963665"/>
            <a:ext cx="112793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34C75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 GUARDS ACTIVE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1039750" y="396187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14" dirty="0"/>
          </a:p>
        </p:txBody>
      </p:sp>
      <p:sp>
        <p:nvSpPr>
          <p:cNvPr id="14" name="Text 11"/>
          <p:cNvSpPr/>
          <p:nvPr/>
        </p:nvSpPr>
        <p:spPr>
          <a:xfrm>
            <a:off x="814388" y="4167262"/>
            <a:ext cx="1714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into every publish workflow — not a separate add-on.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18247" y="1505099"/>
            <a:ext cx="2721769" cy="1528093"/>
          </a:xfrm>
          <a:prstGeom prst="roundRect">
            <a:avLst>
              <a:gd name="adj" fmla="val 872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50406" y="1622971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271480" y="164404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3564731" y="1656904"/>
            <a:ext cx="21431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Cadence Monitoring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3250406" y="1894433"/>
            <a:ext cx="256717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Blocks posts that exceed platform rate limits.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961459" y="1505099"/>
            <a:ext cx="2721769" cy="1528093"/>
          </a:xfrm>
          <a:prstGeom prst="roundRect">
            <a:avLst>
              <a:gd name="adj" fmla="val 872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93619" y="1622971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114693" y="164404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6407944" y="1656904"/>
            <a:ext cx="21431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Hashtag Blocking</a:t>
            </a:r>
            <a:endParaRPr lang="en-US" sz="844" dirty="0"/>
          </a:p>
        </p:txBody>
      </p:sp>
      <p:sp>
        <p:nvSpPr>
          <p:cNvPr id="24" name="Text 21"/>
          <p:cNvSpPr/>
          <p:nvPr/>
        </p:nvSpPr>
        <p:spPr>
          <a:xfrm>
            <a:off x="6093619" y="1894433"/>
            <a:ext cx="256717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Flags banned hashtags before you publish.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118247" y="3154635"/>
            <a:ext cx="2721769" cy="1528093"/>
          </a:xfrm>
          <a:prstGeom prst="roundRect">
            <a:avLst>
              <a:gd name="adj" fmla="val 872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250406" y="3272507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271480" y="329358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3564731" y="3306440"/>
            <a:ext cx="21431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 Cooldowns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3250406" y="3543970"/>
            <a:ext cx="256717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Enforces safe intervals between posts.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961459" y="3154635"/>
            <a:ext cx="2721769" cy="1528093"/>
          </a:xfrm>
          <a:prstGeom prst="roundRect">
            <a:avLst>
              <a:gd name="adj" fmla="val 872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093619" y="3272507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14693" y="329358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6407944" y="3306440"/>
            <a:ext cx="21431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Flags</a:t>
            </a:r>
            <a:endParaRPr lang="en-US" sz="844" dirty="0"/>
          </a:p>
        </p:txBody>
      </p:sp>
      <p:sp>
        <p:nvSpPr>
          <p:cNvPr id="34" name="Text 31"/>
          <p:cNvSpPr/>
          <p:nvPr/>
        </p:nvSpPr>
        <p:spPr>
          <a:xfrm>
            <a:off x="6093619" y="3543970"/>
            <a:ext cx="245745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Alerts on content patterns that trigger suspensions.</a:t>
            </a:r>
            <a:endParaRPr lang="en-US" sz="731" dirty="0"/>
          </a:p>
        </p:txBody>
      </p:sp>
      <p:sp>
        <p:nvSpPr>
          <p:cNvPr id="35" name="Text 32"/>
          <p:cNvSpPr/>
          <p:nvPr/>
        </p:nvSpPr>
        <p:spPr>
          <a:xfrm>
            <a:off x="342900" y="4797028"/>
            <a:ext cx="5620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50131" y="2170584"/>
            <a:ext cx="1243013" cy="1243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-1285875"/>
            <a:ext cx="3714750" cy="3714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2250" y="-1285875"/>
            <a:ext cx="3714750" cy="3714750"/>
          </a:xfrm>
          <a:prstGeom prst="ellipse">
            <a:avLst/>
          </a:prstGeom>
          <a:solidFill>
            <a:srgbClr val="D4AF37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50" y="3286125"/>
            <a:ext cx="3286125" cy="3286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-857250" y="3286125"/>
            <a:ext cx="3286125" cy="3286125"/>
          </a:xfrm>
          <a:prstGeom prst="ellipse">
            <a:avLst/>
          </a:prstGeom>
          <a:solidFill>
            <a:srgbClr val="34C759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91490" y="387834"/>
            <a:ext cx="880311" cy="228029"/>
          </a:xfrm>
          <a:prstGeom prst="roundRect">
            <a:avLst>
              <a:gd name="adj" fmla="val 4172923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50094" y="457200"/>
            <a:ext cx="49169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621506" y="45898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514350" y="689372"/>
            <a:ext cx="3894315" cy="34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47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Enterprise-grade security.</a:t>
            </a:r>
            <a:endParaRPr lang="en-US" sz="2363" dirty="0"/>
          </a:p>
        </p:txBody>
      </p:sp>
      <p:sp>
        <p:nvSpPr>
          <p:cNvPr id="11" name="Text 7"/>
          <p:cNvSpPr/>
          <p:nvPr/>
        </p:nvSpPr>
        <p:spPr>
          <a:xfrm>
            <a:off x="514350" y="1075804"/>
            <a:ext cx="382350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data is protected at every layer.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335" y="400050"/>
            <a:ext cx="1163315" cy="2678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43475" y="387248"/>
            <a:ext cx="1209035" cy="293494"/>
          </a:xfrm>
          <a:prstGeom prst="roundRect">
            <a:avLst>
              <a:gd name="adj" fmla="val 3242136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228600" dist="50800" dir="16200000">
              <a:srgbClr val="D4AF37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773516" y="478631"/>
            <a:ext cx="85613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SOC2-READY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602066" y="4768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517922" y="1450851"/>
            <a:ext cx="1946672" cy="1300163"/>
          </a:xfrm>
          <a:prstGeom prst="roundRect">
            <a:avLst>
              <a:gd name="adj" fmla="val 117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53653" y="1586582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79013" y="161194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19" name="Text 14"/>
          <p:cNvSpPr/>
          <p:nvPr/>
        </p:nvSpPr>
        <p:spPr>
          <a:xfrm>
            <a:off x="650081" y="1940198"/>
            <a:ext cx="16823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AES-256 Encryption</a:t>
            </a:r>
            <a:endParaRPr lang="en-US" sz="844" dirty="0"/>
          </a:p>
        </p:txBody>
      </p:sp>
      <p:sp>
        <p:nvSpPr>
          <p:cNvPr id="20" name="Text 15"/>
          <p:cNvSpPr/>
          <p:nvPr/>
        </p:nvSpPr>
        <p:spPr>
          <a:xfrm>
            <a:off x="650081" y="2100932"/>
            <a:ext cx="17832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sensitive data encrypted at rest</a:t>
            </a:r>
            <a:endParaRPr lang="en-US" sz="703" dirty="0"/>
          </a:p>
        </p:txBody>
      </p:sp>
      <p:sp>
        <p:nvSpPr>
          <p:cNvPr id="21" name="Text 16"/>
          <p:cNvSpPr/>
          <p:nvPr/>
        </p:nvSpPr>
        <p:spPr>
          <a:xfrm>
            <a:off x="2571750" y="1450851"/>
            <a:ext cx="1946672" cy="1300163"/>
          </a:xfrm>
          <a:prstGeom prst="roundRect">
            <a:avLst>
              <a:gd name="adj" fmla="val 117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2707481" y="1586582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2732842" y="161194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24" name="Text 19"/>
          <p:cNvSpPr/>
          <p:nvPr/>
        </p:nvSpPr>
        <p:spPr>
          <a:xfrm>
            <a:off x="2703909" y="1940198"/>
            <a:ext cx="16823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bcrypt + JWT</a:t>
            </a:r>
            <a:endParaRPr lang="en-US" sz="844" dirty="0"/>
          </a:p>
        </p:txBody>
      </p:sp>
      <p:sp>
        <p:nvSpPr>
          <p:cNvPr id="25" name="Text 20"/>
          <p:cNvSpPr/>
          <p:nvPr/>
        </p:nvSpPr>
        <p:spPr>
          <a:xfrm>
            <a:off x="2703909" y="2100932"/>
            <a:ext cx="17832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Password hashing (cost 12) + token auth</a:t>
            </a:r>
            <a:endParaRPr lang="en-US" sz="703" dirty="0"/>
          </a:p>
        </p:txBody>
      </p:sp>
      <p:sp>
        <p:nvSpPr>
          <p:cNvPr id="26" name="Text 21"/>
          <p:cNvSpPr/>
          <p:nvPr/>
        </p:nvSpPr>
        <p:spPr>
          <a:xfrm>
            <a:off x="4625578" y="1450851"/>
            <a:ext cx="1946672" cy="1300163"/>
          </a:xfrm>
          <a:prstGeom prst="roundRect">
            <a:avLst>
              <a:gd name="adj" fmla="val 117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761309" y="1586582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786670" y="161194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547" dirty="0"/>
          </a:p>
        </p:txBody>
      </p:sp>
      <p:sp>
        <p:nvSpPr>
          <p:cNvPr id="29" name="Text 24"/>
          <p:cNvSpPr/>
          <p:nvPr/>
        </p:nvSpPr>
        <p:spPr>
          <a:xfrm>
            <a:off x="4757738" y="1940198"/>
            <a:ext cx="16823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Biometric Auth</a:t>
            </a:r>
            <a:endParaRPr lang="en-US" sz="844" dirty="0"/>
          </a:p>
        </p:txBody>
      </p:sp>
      <p:sp>
        <p:nvSpPr>
          <p:cNvPr id="30" name="Text 25"/>
          <p:cNvSpPr/>
          <p:nvPr/>
        </p:nvSpPr>
        <p:spPr>
          <a:xfrm>
            <a:off x="4757738" y="2100932"/>
            <a:ext cx="17832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Face ID / Fingerprint via WebAuthn</a:t>
            </a:r>
            <a:endParaRPr lang="en-US" sz="703" dirty="0"/>
          </a:p>
        </p:txBody>
      </p:sp>
      <p:sp>
        <p:nvSpPr>
          <p:cNvPr id="31" name="Text 26"/>
          <p:cNvSpPr/>
          <p:nvPr/>
        </p:nvSpPr>
        <p:spPr>
          <a:xfrm>
            <a:off x="6679406" y="1450851"/>
            <a:ext cx="1946672" cy="1300163"/>
          </a:xfrm>
          <a:prstGeom prst="roundRect">
            <a:avLst>
              <a:gd name="adj" fmla="val 117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815138" y="1586582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840498" y="161194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34" name="Text 29"/>
          <p:cNvSpPr/>
          <p:nvPr/>
        </p:nvSpPr>
        <p:spPr>
          <a:xfrm>
            <a:off x="6811566" y="1940198"/>
            <a:ext cx="16823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2FA / TOTP</a:t>
            </a:r>
            <a:endParaRPr lang="en-US" sz="844" dirty="0"/>
          </a:p>
        </p:txBody>
      </p:sp>
      <p:sp>
        <p:nvSpPr>
          <p:cNvPr id="35" name="Text 30"/>
          <p:cNvSpPr/>
          <p:nvPr/>
        </p:nvSpPr>
        <p:spPr>
          <a:xfrm>
            <a:off x="6811566" y="2100932"/>
            <a:ext cx="17832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Two-factor authentication support</a:t>
            </a:r>
            <a:endParaRPr lang="en-US" sz="703" dirty="0"/>
          </a:p>
        </p:txBody>
      </p:sp>
      <p:sp>
        <p:nvSpPr>
          <p:cNvPr id="36" name="Text 31"/>
          <p:cNvSpPr/>
          <p:nvPr/>
        </p:nvSpPr>
        <p:spPr>
          <a:xfrm>
            <a:off x="517922" y="2858170"/>
            <a:ext cx="1946672" cy="1300163"/>
          </a:xfrm>
          <a:prstGeom prst="roundRect">
            <a:avLst>
              <a:gd name="adj" fmla="val 117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653653" y="2993901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79013" y="301926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9" name="Text 34"/>
          <p:cNvSpPr/>
          <p:nvPr/>
        </p:nvSpPr>
        <p:spPr>
          <a:xfrm>
            <a:off x="650081" y="3347517"/>
            <a:ext cx="16823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Limiting</a:t>
            </a:r>
            <a:endParaRPr lang="en-US" sz="844" dirty="0"/>
          </a:p>
        </p:txBody>
      </p:sp>
      <p:sp>
        <p:nvSpPr>
          <p:cNvPr id="40" name="Text 35"/>
          <p:cNvSpPr/>
          <p:nvPr/>
        </p:nvSpPr>
        <p:spPr>
          <a:xfrm>
            <a:off x="650081" y="3508251"/>
            <a:ext cx="17832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Auth, AI, and write endpoints throttled</a:t>
            </a:r>
            <a:endParaRPr lang="en-US" sz="703" dirty="0"/>
          </a:p>
        </p:txBody>
      </p:sp>
      <p:sp>
        <p:nvSpPr>
          <p:cNvPr id="41" name="Text 36"/>
          <p:cNvSpPr/>
          <p:nvPr/>
        </p:nvSpPr>
        <p:spPr>
          <a:xfrm>
            <a:off x="2571750" y="2858170"/>
            <a:ext cx="1946672" cy="1300163"/>
          </a:xfrm>
          <a:prstGeom prst="roundRect">
            <a:avLst>
              <a:gd name="adj" fmla="val 117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2707481" y="2993901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2732842" y="301926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4" name="Text 39"/>
          <p:cNvSpPr/>
          <p:nvPr/>
        </p:nvSpPr>
        <p:spPr>
          <a:xfrm>
            <a:off x="2703909" y="3347517"/>
            <a:ext cx="16823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Logging</a:t>
            </a:r>
            <a:endParaRPr lang="en-US" sz="844" dirty="0"/>
          </a:p>
        </p:txBody>
      </p:sp>
      <p:sp>
        <p:nvSpPr>
          <p:cNvPr id="45" name="Text 40"/>
          <p:cNvSpPr/>
          <p:nvPr/>
        </p:nvSpPr>
        <p:spPr>
          <a:xfrm>
            <a:off x="2703909" y="3508251"/>
            <a:ext cx="17832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security event tracked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4625578" y="2858170"/>
            <a:ext cx="1946672" cy="1300163"/>
          </a:xfrm>
          <a:prstGeom prst="roundRect">
            <a:avLst>
              <a:gd name="adj" fmla="val 117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4761309" y="2993901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4786670" y="301926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49" name="Text 44"/>
          <p:cNvSpPr/>
          <p:nvPr/>
        </p:nvSpPr>
        <p:spPr>
          <a:xfrm>
            <a:off x="4757738" y="3347517"/>
            <a:ext cx="16823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CSP + Headers</a:t>
            </a:r>
            <a:endParaRPr lang="en-US" sz="844" dirty="0"/>
          </a:p>
        </p:txBody>
      </p:sp>
      <p:sp>
        <p:nvSpPr>
          <p:cNvPr id="50" name="Text 45"/>
          <p:cNvSpPr/>
          <p:nvPr/>
        </p:nvSpPr>
        <p:spPr>
          <a:xfrm>
            <a:off x="4757738" y="3508251"/>
            <a:ext cx="17832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Strict Content-Security-Policy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6679406" y="2858170"/>
            <a:ext cx="1946672" cy="1300163"/>
          </a:xfrm>
          <a:prstGeom prst="roundRect">
            <a:avLst>
              <a:gd name="adj" fmla="val 1172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6815138" y="2993901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34C759">
              <a:alpha val="12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6840498" y="301926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C7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547" dirty="0"/>
          </a:p>
        </p:txBody>
      </p:sp>
      <p:sp>
        <p:nvSpPr>
          <p:cNvPr id="54" name="Text 49"/>
          <p:cNvSpPr/>
          <p:nvPr/>
        </p:nvSpPr>
        <p:spPr>
          <a:xfrm>
            <a:off x="6811566" y="3347517"/>
            <a:ext cx="16823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Tenant Isolation</a:t>
            </a:r>
            <a:endParaRPr lang="en-US" sz="844" dirty="0"/>
          </a:p>
        </p:txBody>
      </p:sp>
      <p:sp>
        <p:nvSpPr>
          <p:cNvPr id="55" name="Text 50"/>
          <p:cNvSpPr/>
          <p:nvPr/>
        </p:nvSpPr>
        <p:spPr>
          <a:xfrm>
            <a:off x="6811566" y="3508251"/>
            <a:ext cx="17832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Per-client isolated databases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514350" y="4825603"/>
            <a:ext cx="778244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8294808" y="4825603"/>
            <a:ext cx="351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15</a:t>
            </a:r>
            <a:endParaRPr lang="en-US" sz="61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0125" y="-1428750"/>
            <a:ext cx="3857625" cy="3857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1000125" y="-1428750"/>
            <a:ext cx="3857625" cy="3857625"/>
          </a:xfrm>
          <a:prstGeom prst="ellipse">
            <a:avLst/>
          </a:prstGeom>
          <a:solidFill>
            <a:srgbClr val="D4AF37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3286125"/>
            <a:ext cx="3000375" cy="3000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0875" y="3286125"/>
            <a:ext cx="3000375" cy="3000375"/>
          </a:xfrm>
          <a:prstGeom prst="ellipse">
            <a:avLst/>
          </a:prstGeom>
          <a:solidFill>
            <a:srgbClr val="007A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91490" y="387834"/>
            <a:ext cx="1266408" cy="228029"/>
          </a:xfrm>
          <a:prstGeom prst="roundRect">
            <a:avLst>
              <a:gd name="adj" fmla="val 4172923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50094" y="457200"/>
            <a:ext cx="87778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WORKFLOW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621506" y="45898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514350" y="689372"/>
            <a:ext cx="8115300" cy="34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47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teams.</a:t>
            </a:r>
            <a:endParaRPr lang="en-US" sz="2363" dirty="0"/>
          </a:p>
        </p:txBody>
      </p:sp>
      <p:sp>
        <p:nvSpPr>
          <p:cNvPr id="11" name="Text 7"/>
          <p:cNvSpPr/>
          <p:nvPr/>
        </p:nvSpPr>
        <p:spPr>
          <a:xfrm>
            <a:off x="514350" y="1075804"/>
            <a:ext cx="81153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Roles, approvals, and accountability — without the chaos.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14350" y="1447279"/>
            <a:ext cx="8115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ROLES &amp; PERMISSIONS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14350" y="1652362"/>
            <a:ext cx="749871" cy="332784"/>
          </a:xfrm>
          <a:prstGeom prst="roundRect">
            <a:avLst>
              <a:gd name="adj" fmla="val 285935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64369" y="1790179"/>
            <a:ext cx="57150" cy="57150"/>
          </a:xfrm>
          <a:prstGeom prst="roundRect">
            <a:avLst>
              <a:gd name="adj" fmla="val 66667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14350" y="1665163"/>
            <a:ext cx="74987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Owner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49946" y="1652362"/>
            <a:ext cx="749759" cy="332784"/>
          </a:xfrm>
          <a:prstGeom prst="roundRect">
            <a:avLst>
              <a:gd name="adj" fmla="val 285935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499964" y="1790179"/>
            <a:ext cx="57150" cy="57150"/>
          </a:xfrm>
          <a:prstGeom prst="roundRect">
            <a:avLst>
              <a:gd name="adj" fmla="val 66667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349946" y="1665163"/>
            <a:ext cx="749759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185429" y="1652362"/>
            <a:ext cx="854013" cy="332784"/>
          </a:xfrm>
          <a:prstGeom prst="roundRect">
            <a:avLst>
              <a:gd name="adj" fmla="val 285935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007A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335448" y="1790179"/>
            <a:ext cx="57150" cy="57150"/>
          </a:xfrm>
          <a:prstGeom prst="roundRect">
            <a:avLst>
              <a:gd name="adj" fmla="val 66667"/>
            </a:avLst>
          </a:prstGeom>
          <a:solidFill>
            <a:srgbClr val="007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185429" y="1665163"/>
            <a:ext cx="85401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6FB5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125167" y="1652362"/>
            <a:ext cx="729555" cy="332784"/>
          </a:xfrm>
          <a:prstGeom prst="roundRect">
            <a:avLst>
              <a:gd name="adj" fmla="val 285935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34C75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275186" y="1790179"/>
            <a:ext cx="57150" cy="57150"/>
          </a:xfrm>
          <a:prstGeom prst="roundRect">
            <a:avLst>
              <a:gd name="adj" fmla="val 66667"/>
            </a:avLst>
          </a:prstGeom>
          <a:solidFill>
            <a:srgbClr val="34C7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125167" y="1665163"/>
            <a:ext cx="72955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6FE0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Editor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940448" y="1652362"/>
            <a:ext cx="761367" cy="332784"/>
          </a:xfrm>
          <a:prstGeom prst="roundRect">
            <a:avLst>
              <a:gd name="adj" fmla="val 285935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090467" y="1790179"/>
            <a:ext cx="57150" cy="57150"/>
          </a:xfrm>
          <a:prstGeom prst="roundRect">
            <a:avLst>
              <a:gd name="adj" fmla="val 66667"/>
            </a:avLst>
          </a:prstGeom>
          <a:solidFill>
            <a:srgbClr val="F4F4F5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940448" y="1665163"/>
            <a:ext cx="7613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F4F4F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Viewer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14350" y="2200945"/>
            <a:ext cx="8115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APPROVAL WORKFLOW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17922" y="2422401"/>
            <a:ext cx="1743075" cy="1421606"/>
          </a:xfrm>
          <a:prstGeom prst="roundRect">
            <a:avLst>
              <a:gd name="adj" fmla="val 1206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2009208" y="2525985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31" name="Text 27"/>
          <p:cNvSpPr/>
          <p:nvPr/>
        </p:nvSpPr>
        <p:spPr>
          <a:xfrm>
            <a:off x="653653" y="2586707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86872" y="26199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828" dirty="0"/>
          </a:p>
        </p:txBody>
      </p:sp>
      <p:sp>
        <p:nvSpPr>
          <p:cNvPr id="33" name="Text 29"/>
          <p:cNvSpPr/>
          <p:nvPr/>
        </p:nvSpPr>
        <p:spPr>
          <a:xfrm>
            <a:off x="650081" y="3026048"/>
            <a:ext cx="147875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Draft Created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50081" y="3197498"/>
            <a:ext cx="15674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Editor starts a post, AI adapts it per platform.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321719" y="300461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36" name="Text 32"/>
          <p:cNvSpPr/>
          <p:nvPr/>
        </p:nvSpPr>
        <p:spPr>
          <a:xfrm>
            <a:off x="2639616" y="2422401"/>
            <a:ext cx="1743075" cy="1421606"/>
          </a:xfrm>
          <a:prstGeom prst="roundRect">
            <a:avLst>
              <a:gd name="adj" fmla="val 1206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130902" y="2525985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38" name="Text 34"/>
          <p:cNvSpPr/>
          <p:nvPr/>
        </p:nvSpPr>
        <p:spPr>
          <a:xfrm>
            <a:off x="2775347" y="2586707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2808565" y="26199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828" dirty="0"/>
          </a:p>
        </p:txBody>
      </p:sp>
      <p:sp>
        <p:nvSpPr>
          <p:cNvPr id="40" name="Text 36"/>
          <p:cNvSpPr/>
          <p:nvPr/>
        </p:nvSpPr>
        <p:spPr>
          <a:xfrm>
            <a:off x="2771775" y="3026048"/>
            <a:ext cx="147875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Submitted for Review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2771775" y="3197498"/>
            <a:ext cx="15674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receives a notification and reviews the draft.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443413" y="300461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43" name="Text 39"/>
          <p:cNvSpPr/>
          <p:nvPr/>
        </p:nvSpPr>
        <p:spPr>
          <a:xfrm>
            <a:off x="4761309" y="2422401"/>
            <a:ext cx="1743075" cy="1421606"/>
          </a:xfrm>
          <a:prstGeom prst="roundRect">
            <a:avLst>
              <a:gd name="adj" fmla="val 1206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6252595" y="2525985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45" name="Text 41"/>
          <p:cNvSpPr/>
          <p:nvPr/>
        </p:nvSpPr>
        <p:spPr>
          <a:xfrm>
            <a:off x="4897041" y="2586707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930259" y="26199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47" name="Text 43"/>
          <p:cNvSpPr/>
          <p:nvPr/>
        </p:nvSpPr>
        <p:spPr>
          <a:xfrm>
            <a:off x="4893469" y="3026048"/>
            <a:ext cx="147875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Approved / Rejected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893469" y="3197498"/>
            <a:ext cx="15674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 to publish or reject with inline feedback.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565106" y="300461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50" name="Text 46"/>
          <p:cNvSpPr/>
          <p:nvPr/>
        </p:nvSpPr>
        <p:spPr>
          <a:xfrm>
            <a:off x="6883003" y="2422401"/>
            <a:ext cx="1743075" cy="1421606"/>
          </a:xfrm>
          <a:prstGeom prst="roundRect">
            <a:avLst>
              <a:gd name="adj" fmla="val 1206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8374289" y="2525985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52" name="Text 48"/>
          <p:cNvSpPr/>
          <p:nvPr/>
        </p:nvSpPr>
        <p:spPr>
          <a:xfrm>
            <a:off x="7018734" y="2586707"/>
            <a:ext cx="335756" cy="335756"/>
          </a:xfrm>
          <a:prstGeom prst="roundRect">
            <a:avLst>
              <a:gd name="adj" fmla="val 34043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7051953" y="261992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828" dirty="0"/>
          </a:p>
        </p:txBody>
      </p:sp>
      <p:sp>
        <p:nvSpPr>
          <p:cNvPr id="54" name="Text 50"/>
          <p:cNvSpPr/>
          <p:nvPr/>
        </p:nvSpPr>
        <p:spPr>
          <a:xfrm>
            <a:off x="7015163" y="3026048"/>
            <a:ext cx="147875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Published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7015163" y="3197498"/>
            <a:ext cx="15674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Goes live to all 7 platforms — safely and on schedule.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514350" y="4604147"/>
            <a:ext cx="81153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action is logged. 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team member sees what they need to.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514350" y="4825603"/>
            <a:ext cx="77780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8292632" y="4825603"/>
            <a:ext cx="351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15</a:t>
            </a:r>
            <a:endParaRPr lang="en-US" sz="61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375" y="-1428750"/>
            <a:ext cx="3857625" cy="3857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-1428750"/>
            <a:ext cx="3857625" cy="3857625"/>
          </a:xfrm>
          <a:prstGeom prst="ellipse">
            <a:avLst/>
          </a:prstGeom>
          <a:solidFill>
            <a:srgbClr val="D4AF37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50" y="3143250"/>
            <a:ext cx="3286125" cy="3286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-857250" y="3143250"/>
            <a:ext cx="3286125" cy="3286125"/>
          </a:xfrm>
          <a:prstGeom prst="ellipse">
            <a:avLst/>
          </a:prstGeom>
          <a:solidFill>
            <a:srgbClr val="007A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91490" y="387834"/>
            <a:ext cx="937238" cy="228029"/>
          </a:xfrm>
          <a:prstGeom prst="roundRect">
            <a:avLst>
              <a:gd name="adj" fmla="val 4172923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50094" y="457200"/>
            <a:ext cx="54861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621506" y="45898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514350" y="689372"/>
            <a:ext cx="8115300" cy="34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47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 what matters.</a:t>
            </a:r>
            <a:endParaRPr lang="en-US" sz="2363" dirty="0"/>
          </a:p>
        </p:txBody>
      </p:sp>
      <p:sp>
        <p:nvSpPr>
          <p:cNvPr id="11" name="Text 7"/>
          <p:cNvSpPr/>
          <p:nvPr/>
        </p:nvSpPr>
        <p:spPr>
          <a:xfrm>
            <a:off x="514350" y="1075804"/>
            <a:ext cx="81153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Cross-platform analytics + custom report builder.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17922" y="1450851"/>
            <a:ext cx="2602669" cy="2421731"/>
          </a:xfrm>
          <a:prstGeom prst="roundRect">
            <a:avLst>
              <a:gd name="adj" fmla="val 708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82228" y="1615157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10803" y="164373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5" name="Text 11"/>
          <p:cNvSpPr/>
          <p:nvPr/>
        </p:nvSpPr>
        <p:spPr>
          <a:xfrm>
            <a:off x="1035844" y="1666949"/>
            <a:ext cx="177265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Followers Growth</a:t>
            </a:r>
            <a:endParaRPr lang="en-US" sz="844" dirty="0"/>
          </a:p>
        </p:txBody>
      </p:sp>
      <p:sp>
        <p:nvSpPr>
          <p:cNvPr id="16" name="Text 12"/>
          <p:cNvSpPr/>
          <p:nvPr/>
        </p:nvSpPr>
        <p:spPr>
          <a:xfrm>
            <a:off x="2836526" y="1693738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7D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682228" y="1986632"/>
            <a:ext cx="2274057" cy="1491704"/>
          </a:xfrm>
          <a:prstGeom prst="roundRect">
            <a:avLst>
              <a:gd name="adj" fmla="val 7662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/tmp/h2p-svg-1791091323633-qtoqi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90217"/>
            <a:ext cx="2038313" cy="12845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656" y="3581921"/>
            <a:ext cx="2390928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88.7K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followers · </a:t>
            </a:r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6FE0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+4.2%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this week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270610" y="1450851"/>
            <a:ext cx="2602669" cy="2421731"/>
          </a:xfrm>
          <a:prstGeom prst="roundRect">
            <a:avLst>
              <a:gd name="adj" fmla="val 708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434916" y="1615157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463491" y="164373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406" dirty="0"/>
          </a:p>
        </p:txBody>
      </p:sp>
      <p:sp>
        <p:nvSpPr>
          <p:cNvPr id="23" name="Text 18"/>
          <p:cNvSpPr/>
          <p:nvPr/>
        </p:nvSpPr>
        <p:spPr>
          <a:xfrm>
            <a:off x="3788532" y="1666949"/>
            <a:ext cx="168804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Distribution</a:t>
            </a:r>
            <a:endParaRPr lang="en-US" sz="844" dirty="0"/>
          </a:p>
        </p:txBody>
      </p:sp>
      <p:sp>
        <p:nvSpPr>
          <p:cNvPr id="24" name="Text 19"/>
          <p:cNvSpPr/>
          <p:nvPr/>
        </p:nvSpPr>
        <p:spPr>
          <a:xfrm>
            <a:off x="5491161" y="1693738"/>
            <a:ext cx="2496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3434916" y="1986632"/>
            <a:ext cx="2274057" cy="1491704"/>
          </a:xfrm>
          <a:prstGeom prst="roundRect">
            <a:avLst>
              <a:gd name="adj" fmla="val 7662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816214" y="2268141"/>
            <a:ext cx="928688" cy="928688"/>
          </a:xfrm>
          <a:prstGeom prst="ellipse">
            <a:avLst/>
          </a:prstGeom>
          <a:solidFill>
            <a:srgbClr val="AF52DE"/>
          </a:solidFill>
          <a:ln/>
          <a:effectLst>
            <a:outerShdw sx="100000" sy="100000" kx="0" ky="0" algn="bl" rotWithShape="0" blurRad="285750" dist="50800" dir="16200000">
              <a:srgbClr val="D4AF37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859201" y="2506452"/>
            <a:ext cx="57150" cy="57150"/>
          </a:xfrm>
          <a:prstGeom prst="roundRect">
            <a:avLst>
              <a:gd name="adj" fmla="val 33333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859201" y="2475309"/>
            <a:ext cx="302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136245" y="2506452"/>
            <a:ext cx="57150" cy="57150"/>
          </a:xfrm>
          <a:prstGeom prst="roundRect">
            <a:avLst>
              <a:gd name="adj" fmla="val 33333"/>
            </a:avLst>
          </a:prstGeom>
          <a:solidFill>
            <a:srgbClr val="34C7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136245" y="2475309"/>
            <a:ext cx="302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FB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859201" y="2642183"/>
            <a:ext cx="57150" cy="57150"/>
          </a:xfrm>
          <a:prstGeom prst="roundRect">
            <a:avLst>
              <a:gd name="adj" fmla="val 33333"/>
            </a:avLst>
          </a:prstGeom>
          <a:solidFill>
            <a:srgbClr val="007A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4859201" y="2611041"/>
            <a:ext cx="302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136245" y="2642183"/>
            <a:ext cx="57150" cy="57150"/>
          </a:xfrm>
          <a:prstGeom prst="roundRect">
            <a:avLst>
              <a:gd name="adj" fmla="val 33333"/>
            </a:avLst>
          </a:prstGeom>
          <a:solidFill>
            <a:srgbClr val="AF52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136245" y="2611041"/>
            <a:ext cx="302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859201" y="2777914"/>
            <a:ext cx="57150" cy="57150"/>
          </a:xfrm>
          <a:prstGeom prst="roundRect">
            <a:avLst>
              <a:gd name="adj" fmla="val 33333"/>
            </a:avLst>
          </a:prstGeom>
          <a:solidFill>
            <a:srgbClr val="FF3B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859201" y="2746772"/>
            <a:ext cx="302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TT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5136245" y="2777914"/>
            <a:ext cx="57150" cy="57150"/>
          </a:xfrm>
          <a:prstGeom prst="roundRect">
            <a:avLst>
              <a:gd name="adj" fmla="val 33333"/>
            </a:avLst>
          </a:prstGeom>
          <a:solidFill>
            <a:srgbClr val="F5D0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136245" y="2746772"/>
            <a:ext cx="302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YT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4859201" y="2913645"/>
            <a:ext cx="57150" cy="57150"/>
          </a:xfrm>
          <a:prstGeom prst="roundRect">
            <a:avLst>
              <a:gd name="adj" fmla="val 33333"/>
            </a:avLst>
          </a:prstGeom>
          <a:solidFill>
            <a:srgbClr val="6FB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4859201" y="2882503"/>
            <a:ext cx="302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3431344" y="3581921"/>
            <a:ext cx="2281200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platforms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connected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6023297" y="1450851"/>
            <a:ext cx="2602781" cy="2421731"/>
          </a:xfrm>
          <a:prstGeom prst="roundRect">
            <a:avLst>
              <a:gd name="adj" fmla="val 7080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6187604" y="1615157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216179" y="164373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406" dirty="0"/>
          </a:p>
        </p:txBody>
      </p:sp>
      <p:sp>
        <p:nvSpPr>
          <p:cNvPr id="45" name="Text 40"/>
          <p:cNvSpPr/>
          <p:nvPr/>
        </p:nvSpPr>
        <p:spPr>
          <a:xfrm>
            <a:off x="6541219" y="1666949"/>
            <a:ext cx="172443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</a:t>
            </a:r>
            <a:endParaRPr lang="en-US" sz="844" dirty="0"/>
          </a:p>
        </p:txBody>
      </p:sp>
      <p:sp>
        <p:nvSpPr>
          <p:cNvPr id="46" name="Text 41"/>
          <p:cNvSpPr/>
          <p:nvPr/>
        </p:nvSpPr>
        <p:spPr>
          <a:xfrm>
            <a:off x="8289973" y="1693738"/>
            <a:ext cx="1939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68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30D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6187604" y="1986632"/>
            <a:ext cx="2274168" cy="1491704"/>
          </a:xfrm>
          <a:prstGeom prst="roundRect">
            <a:avLst>
              <a:gd name="adj" fmla="val 7662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447" y="2703128"/>
            <a:ext cx="157163" cy="460883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6340792" y="320687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</a:t>
            </a:r>
            <a:endParaRPr lang="en-US" sz="80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074" y="2533241"/>
            <a:ext cx="157163" cy="630771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6648419" y="320687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</a:t>
            </a:r>
            <a:endParaRPr lang="en-US" sz="8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590" y="2606018"/>
            <a:ext cx="157163" cy="557994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6955936" y="320687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W3</a:t>
            </a:r>
            <a:endParaRPr lang="en-US" sz="800" dirty="0"/>
          </a:p>
        </p:txBody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107" y="2339132"/>
            <a:ext cx="157163" cy="82488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7263452" y="320687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</a:t>
            </a:r>
            <a:endParaRPr lang="en-US" sz="80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3623" y="2145023"/>
            <a:ext cx="157163" cy="1018989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7570968" y="320687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W5</a:t>
            </a:r>
            <a:endParaRPr lang="en-US" sz="8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1139" y="2217800"/>
            <a:ext cx="157163" cy="946212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7878484" y="320687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W6</a:t>
            </a:r>
            <a:endParaRPr lang="en-US" sz="800" dirty="0"/>
          </a:p>
        </p:txBody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8655" y="2090217"/>
            <a:ext cx="157163" cy="1073795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8186000" y="320687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W7</a:t>
            </a:r>
            <a:endParaRPr lang="en-US" sz="800" dirty="0"/>
          </a:p>
        </p:txBody>
      </p:sp>
      <p:sp>
        <p:nvSpPr>
          <p:cNvPr id="62" name="Text 50"/>
          <p:cNvSpPr/>
          <p:nvPr/>
        </p:nvSpPr>
        <p:spPr>
          <a:xfrm>
            <a:off x="6184032" y="3581921"/>
            <a:ext cx="2391040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48.2K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total engagement · </a:t>
            </a:r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6FE0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+12%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MoM</a:t>
            </a:r>
            <a:endParaRPr lang="en-US" sz="800" dirty="0"/>
          </a:p>
        </p:txBody>
      </p:sp>
      <p:sp>
        <p:nvSpPr>
          <p:cNvPr id="63" name="Text 51"/>
          <p:cNvSpPr/>
          <p:nvPr/>
        </p:nvSpPr>
        <p:spPr>
          <a:xfrm>
            <a:off x="514350" y="4575572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custom reports as PDF. Schedule weekly digests. 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 with stakeholders.</a:t>
            </a:r>
            <a:endParaRPr lang="en-US" sz="800" dirty="0"/>
          </a:p>
        </p:txBody>
      </p:sp>
      <p:sp>
        <p:nvSpPr>
          <p:cNvPr id="64" name="Text 52"/>
          <p:cNvSpPr/>
          <p:nvPr/>
        </p:nvSpPr>
        <p:spPr>
          <a:xfrm>
            <a:off x="514350" y="4825603"/>
            <a:ext cx="77780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65" name="Text 53"/>
          <p:cNvSpPr/>
          <p:nvPr/>
        </p:nvSpPr>
        <p:spPr>
          <a:xfrm>
            <a:off x="8292632" y="4825603"/>
            <a:ext cx="351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15</a:t>
            </a:r>
            <a:endParaRPr lang="en-US" sz="619" dirty="0"/>
          </a:p>
        </p:txBody>
      </p:sp>
      <p:sp>
        <p:nvSpPr>
          <p:cNvPr id="66" name="Text 54"/>
          <p:cNvSpPr/>
          <p:nvPr/>
        </p:nvSpPr>
        <p:spPr>
          <a:xfrm>
            <a:off x="3816214" y="2268141"/>
            <a:ext cx="928688" cy="928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4F4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23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-1714500"/>
            <a:ext cx="4000500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71750" y="-1714500"/>
            <a:ext cx="4000500" cy="4000500"/>
          </a:xfrm>
          <a:prstGeom prst="ellipse">
            <a:avLst/>
          </a:prstGeom>
          <a:solidFill>
            <a:srgbClr val="D4AF37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571875"/>
            <a:ext cx="3000375" cy="3000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3571875"/>
            <a:ext cx="3000375" cy="3000375"/>
          </a:xfrm>
          <a:prstGeom prst="ellipse">
            <a:avLst/>
          </a:prstGeom>
          <a:solidFill>
            <a:srgbClr val="007A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91490" y="387834"/>
            <a:ext cx="798604" cy="228029"/>
          </a:xfrm>
          <a:prstGeom prst="roundRect">
            <a:avLst>
              <a:gd name="adj" fmla="val 4172923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0119" y="457200"/>
            <a:ext cx="429934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PRICING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621506" y="45898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514350" y="689372"/>
            <a:ext cx="8115300" cy="34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47" kern="0" dirty="0">
                <a:solidFill>
                  <a:srgbClr val="F5D0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Start with a 15-day free trial.</a:t>
            </a:r>
            <a:endParaRPr lang="en-US" sz="2363" dirty="0"/>
          </a:p>
        </p:txBody>
      </p:sp>
      <p:sp>
        <p:nvSpPr>
          <p:cNvPr id="11" name="Text 7"/>
          <p:cNvSpPr/>
          <p:nvPr/>
        </p:nvSpPr>
        <p:spPr>
          <a:xfrm>
            <a:off x="514350" y="1075804"/>
            <a:ext cx="82250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card to explore. Pick a plan when you're ready.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17922" y="1593726"/>
            <a:ext cx="2583582" cy="2707481"/>
          </a:xfrm>
          <a:prstGeom prst="roundRect">
            <a:avLst>
              <a:gd name="adj" fmla="val 7373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07231" y="1797323"/>
            <a:ext cx="22049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STARTER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07231" y="2065213"/>
            <a:ext cx="1347133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F5D0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$299</a:t>
            </a:r>
            <a:endParaRPr lang="en-US" sz="3150" dirty="0"/>
          </a:p>
        </p:txBody>
      </p:sp>
      <p:sp>
        <p:nvSpPr>
          <p:cNvPr id="15" name="Text 11"/>
          <p:cNvSpPr/>
          <p:nvPr/>
        </p:nvSpPr>
        <p:spPr>
          <a:xfrm>
            <a:off x="1606339" y="2279526"/>
            <a:ext cx="130585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/mo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07231" y="2593851"/>
            <a:ext cx="2314691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solo creators &amp; small teams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707231" y="2860960"/>
            <a:ext cx="220496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07231" y="2978832"/>
            <a:ext cx="2204963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social accounts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07231" y="3126172"/>
            <a:ext cx="2204963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user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07231" y="3273512"/>
            <a:ext cx="2204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AI composer (100/mo)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10803" y="3751138"/>
            <a:ext cx="2197819" cy="342900"/>
          </a:xfrm>
          <a:prstGeom prst="roundRect">
            <a:avLst>
              <a:gd name="adj" fmla="val 33333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364521" y="3861867"/>
            <a:ext cx="7045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spc="16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trial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716487" y="38293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526" y="1504429"/>
            <a:ext cx="2590837" cy="28860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280097" y="1508001"/>
            <a:ext cx="2583693" cy="2878931"/>
          </a:xfrm>
          <a:prstGeom prst="roundRect">
            <a:avLst>
              <a:gd name="adj" fmla="val 7373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495" y="1411560"/>
            <a:ext cx="974787" cy="18930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084495" y="1411560"/>
            <a:ext cx="9747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0A0B0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3469407" y="1711598"/>
            <a:ext cx="2205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GROWTH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3469407" y="1979488"/>
            <a:ext cx="1347133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F5D06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$499</a:t>
            </a:r>
            <a:endParaRPr lang="en-US" sz="3150" dirty="0"/>
          </a:p>
        </p:txBody>
      </p:sp>
      <p:sp>
        <p:nvSpPr>
          <p:cNvPr id="30" name="Text 24"/>
          <p:cNvSpPr/>
          <p:nvPr/>
        </p:nvSpPr>
        <p:spPr>
          <a:xfrm>
            <a:off x="4368515" y="2193801"/>
            <a:ext cx="130596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/mo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469407" y="2508126"/>
            <a:ext cx="2314803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growing teams that publish daily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3469407" y="2775235"/>
            <a:ext cx="22050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469407" y="2893107"/>
            <a:ext cx="2205075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social accounts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3469407" y="3040447"/>
            <a:ext cx="2205075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users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3469407" y="3187787"/>
            <a:ext cx="220507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Unlimited AI</a:t>
            </a:r>
            <a:endParaRPr lang="en-US" sz="8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407" y="3833292"/>
            <a:ext cx="2205075" cy="3500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472979" y="3836863"/>
            <a:ext cx="2197931" cy="342900"/>
          </a:xfrm>
          <a:prstGeom prst="roundRect">
            <a:avLst>
              <a:gd name="adj" fmla="val 33333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285750" dist="50800" dir="16200000">
              <a:srgbClr val="D4AF37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4126808" y="3947592"/>
            <a:ext cx="7045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spc="16" kern="0" dirty="0">
                <a:solidFill>
                  <a:srgbClr val="0A0B0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trial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4478718" y="391508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A0B0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0" name="Text 33"/>
          <p:cNvSpPr/>
          <p:nvPr/>
        </p:nvSpPr>
        <p:spPr>
          <a:xfrm>
            <a:off x="6042385" y="1593726"/>
            <a:ext cx="2583582" cy="2707481"/>
          </a:xfrm>
          <a:prstGeom prst="roundRect">
            <a:avLst>
              <a:gd name="adj" fmla="val 7373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231694" y="1797323"/>
            <a:ext cx="22049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6231694" y="2065213"/>
            <a:ext cx="2204963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F5D06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</a:t>
            </a:r>
            <a:endParaRPr lang="en-US" sz="3150" dirty="0"/>
          </a:p>
        </p:txBody>
      </p:sp>
      <p:sp>
        <p:nvSpPr>
          <p:cNvPr id="43" name="Text 36"/>
          <p:cNvSpPr/>
          <p:nvPr/>
        </p:nvSpPr>
        <p:spPr>
          <a:xfrm>
            <a:off x="6231694" y="2593851"/>
            <a:ext cx="2314691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large teams with custom needs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6231694" y="2860960"/>
            <a:ext cx="220496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231694" y="2978832"/>
            <a:ext cx="2204963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Unlimited everything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6231694" y="3126172"/>
            <a:ext cx="2204963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SSO + SAML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6231694" y="3273512"/>
            <a:ext cx="22049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b="1" spc="7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160"/>
              </a:lnSpc>
              <a:buNone/>
            </a:pPr>
            <a:r>
              <a:rPr lang="en-US" sz="800" spc="7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99.9% SLA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6235266" y="3751138"/>
            <a:ext cx="2197819" cy="342900"/>
          </a:xfrm>
          <a:prstGeom prst="roundRect">
            <a:avLst>
              <a:gd name="adj" fmla="val 33333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6826698" y="3861867"/>
            <a:ext cx="8292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spc="16" kern="0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 sales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7240950" y="38293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1" name="Text 44"/>
          <p:cNvSpPr/>
          <p:nvPr/>
        </p:nvSpPr>
        <p:spPr>
          <a:xfrm>
            <a:off x="514350" y="4575572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plans include the 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composer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 protection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and 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D4AF3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analytics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514350" y="4825603"/>
            <a:ext cx="77780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8292632" y="4825603"/>
            <a:ext cx="351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93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15</a:t>
            </a:r>
            <a:endParaRPr lang="en-US" sz="61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371475"/>
            <a:ext cx="5429250" cy="4000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57375" y="371475"/>
            <a:ext cx="5429250" cy="4000500"/>
          </a:xfrm>
          <a:prstGeom prst="roundRect">
            <a:avLst>
              <a:gd name="adj" fmla="val 22857"/>
            </a:avLst>
          </a:prstGeom>
          <a:solidFill>
            <a:srgbClr val="D4AF3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5" y="-1143000"/>
            <a:ext cx="2714625" cy="27146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286625" y="-1143000"/>
            <a:ext cx="2714625" cy="2714625"/>
          </a:xfrm>
          <a:prstGeom prst="ellipse">
            <a:avLst/>
          </a:prstGeom>
          <a:solidFill>
            <a:srgbClr val="D4AF37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375" y="3714750"/>
            <a:ext cx="2714625" cy="27146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-714375" y="3714750"/>
            <a:ext cx="2714625" cy="2714625"/>
          </a:xfrm>
          <a:prstGeom prst="ellipse">
            <a:avLst/>
          </a:prstGeom>
          <a:solidFill>
            <a:srgbClr val="007A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4"/>
          <p:cNvSpPr/>
          <p:nvPr/>
        </p:nvSpPr>
        <p:spPr>
          <a:xfrm>
            <a:off x="342900" y="232172"/>
            <a:ext cx="2571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346472" y="228600"/>
            <a:ext cx="0" cy="257175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797528" y="4386263"/>
            <a:ext cx="0" cy="257175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8543925" y="4639866"/>
            <a:ext cx="2571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3986235" y="1446979"/>
            <a:ext cx="1171419" cy="257775"/>
          </a:xfrm>
          <a:prstGeom prst="roundRect">
            <a:avLst>
              <a:gd name="adj" fmla="val 3691388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4294845" y="1531218"/>
            <a:ext cx="704217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b="1" spc="111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STARTED</a:t>
            </a:r>
            <a:endParaRPr lang="en-US" sz="619" dirty="0"/>
          </a:p>
        </p:txBody>
      </p:sp>
      <p:sp>
        <p:nvSpPr>
          <p:cNvPr id="16" name="Text 10"/>
          <p:cNvSpPr/>
          <p:nvPr/>
        </p:nvSpPr>
        <p:spPr>
          <a:xfrm>
            <a:off x="4144826" y="152943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914" dirty="0"/>
          </a:p>
        </p:txBody>
      </p:sp>
      <p:sp>
        <p:nvSpPr>
          <p:cNvPr id="17" name="Text 11"/>
          <p:cNvSpPr/>
          <p:nvPr/>
        </p:nvSpPr>
        <p:spPr>
          <a:xfrm>
            <a:off x="274320" y="1891978"/>
            <a:ext cx="8595360" cy="45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Start your 15-day free trial</a:t>
            </a:r>
            <a:endParaRPr lang="en-US" sz="3150" dirty="0"/>
          </a:p>
        </p:txBody>
      </p:sp>
      <p:sp>
        <p:nvSpPr>
          <p:cNvPr id="18" name="Text 12"/>
          <p:cNvSpPr/>
          <p:nvPr/>
        </p:nvSpPr>
        <p:spPr>
          <a:xfrm>
            <a:off x="2511251" y="2512033"/>
            <a:ext cx="412149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4F4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access to every module. No card to explore. Cancel anytime.</a:t>
            </a:r>
            <a:endParaRPr lang="en-US" sz="1125" dirty="0"/>
          </a:p>
        </p:txBody>
      </p:sp>
      <p:sp>
        <p:nvSpPr>
          <p:cNvPr id="19" name="Text 13"/>
          <p:cNvSpPr/>
          <p:nvPr/>
        </p:nvSpPr>
        <p:spPr>
          <a:xfrm>
            <a:off x="4896929" y="304424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A0B0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0" name="Text 14"/>
          <p:cNvSpPr/>
          <p:nvPr/>
        </p:nvSpPr>
        <p:spPr>
          <a:xfrm>
            <a:off x="3423321" y="3547876"/>
            <a:ext cx="245440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 visit to learn more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511600" y="355859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4F4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984" dirty="0"/>
          </a:p>
        </p:txBody>
      </p:sp>
      <p:sp>
        <p:nvSpPr>
          <p:cNvPr id="22" name="Text 16"/>
          <p:cNvSpPr/>
          <p:nvPr/>
        </p:nvSpPr>
        <p:spPr>
          <a:xfrm>
            <a:off x="3939722" y="3533589"/>
            <a:ext cx="1133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synque.vercel.app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342900" y="4797028"/>
            <a:ext cx="6114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F4F4F5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SYNQUE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491025" y="4797028"/>
            <a:ext cx="453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F4F4F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2026-10-04T05:22:08Z</dcterms:created>
  <dcterms:modified xsi:type="dcterms:W3CDTF">2026-10-04T05:22:08Z</dcterms:modified>
</cp:coreProperties>
</file>